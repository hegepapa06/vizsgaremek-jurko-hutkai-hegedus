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59" r:id="rId4"/>
    <p:sldId id="260" r:id="rId5"/>
    <p:sldId id="261" r:id="rId6"/>
    <p:sldId id="262" r:id="rId7"/>
    <p:sldId id="278" r:id="rId8"/>
    <p:sldId id="279" r:id="rId9"/>
    <p:sldId id="280" r:id="rId10"/>
    <p:sldId id="281" r:id="rId11"/>
    <p:sldId id="273" r:id="rId12"/>
    <p:sldId id="274" r:id="rId13"/>
    <p:sldId id="275" r:id="rId14"/>
    <p:sldId id="276" r:id="rId15"/>
    <p:sldId id="258" r:id="rId16"/>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330BA9-45AA-472F-A670-9E5FE8A57E69}" v="115" dt="2026-02-05T22:54:00.7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hu-HU"/>
              <a:t>Mintacím szerkesztése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2922182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2511059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hu-HU"/>
              <a:t>Mintacím szerkesztése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29300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2F23DEE0-B9D0-4A82-A2DA-F2732037483B}" type="datetimeFigureOut">
              <a:rPr lang="hu-HU" smtClean="0"/>
              <a:t>2026. 03. 13.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2030851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u-HU"/>
              <a:t>Mintacím szerkesztése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2F23DEE0-B9D0-4A82-A2DA-F2732037483B}" type="datetimeFigureOut">
              <a:rPr lang="hu-HU" smtClean="0"/>
              <a:t>2026. 03. 13.</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3990821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7" name="Date Placeholder 2"/>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3"/>
          <p:cNvSpPr>
            <a:spLocks noGrp="1"/>
          </p:cNvSpPr>
          <p:nvPr>
            <p:ph type="ftr" sz="quarter" idx="11"/>
          </p:nvPr>
        </p:nvSpPr>
        <p:spPr/>
        <p:txBody>
          <a:bodyPr/>
          <a:lstStyle/>
          <a:p>
            <a:endParaRPr lang="hu-HU"/>
          </a:p>
        </p:txBody>
      </p:sp>
      <p:sp>
        <p:nvSpPr>
          <p:cNvPr id="6" name="Slide Number Placeholder 4"/>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700738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2"/>
          <p:cNvSpPr>
            <a:spLocks noGrp="1"/>
          </p:cNvSpPr>
          <p:nvPr>
            <p:ph type="ftr" sz="quarter" idx="11"/>
          </p:nvPr>
        </p:nvSpPr>
        <p:spPr/>
        <p:txBody>
          <a:bodyPr/>
          <a:lstStyle/>
          <a:p>
            <a:endParaRPr lang="hu-HU"/>
          </a:p>
        </p:txBody>
      </p:sp>
      <p:sp>
        <p:nvSpPr>
          <p:cNvPr id="6" name="Slide Number Placeholder 3"/>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1975897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hu-HU"/>
              <a:t>Mintacím szerkesztése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7" name="Date Placeholder 4"/>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5"/>
          <p:cNvSpPr>
            <a:spLocks noGrp="1"/>
          </p:cNvSpPr>
          <p:nvPr>
            <p:ph type="ftr" sz="quarter" idx="11"/>
          </p:nvPr>
        </p:nvSpPr>
        <p:spPr/>
        <p:txBody>
          <a:bodyPr/>
          <a:lstStyle/>
          <a:p>
            <a:endParaRPr lang="hu-HU"/>
          </a:p>
        </p:txBody>
      </p:sp>
      <p:sp>
        <p:nvSpPr>
          <p:cNvPr id="6" name="Slide Number Placeholder 6"/>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2789679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hu-HU"/>
              <a:t>Mintacím szerkesztése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2F23DEE0-B9D0-4A82-A2DA-F2732037483B}" type="datetimeFigureOut">
              <a:rPr lang="hu-HU" smtClean="0"/>
              <a:t>2026. 03. 13.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768541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hu-HU"/>
              <a:t>Mintacím szerkesztése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2F23DEE0-B9D0-4A82-A2DA-F2732037483B}" type="datetimeFigureOut">
              <a:rPr lang="hu-HU" smtClean="0"/>
              <a:t>2026. 03. 13.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2380576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hu-HU"/>
              <a:t>Mintacím szerkesztése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4"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1364147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hu-HU"/>
              <a:t>Mintacím szerkesztése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4"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573755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hu-HU"/>
              <a:t>Mintacím szerkesztése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3117990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u-HU"/>
              <a:t>Mintacím szerkesztése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4"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1683732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u-HU"/>
              <a:t>Mintacím szerkesztése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4"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2807247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nchor="t" anchorCtr="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39457723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hu-HU"/>
              <a:t>Mintacím szerkesztése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2F23DEE0-B9D0-4A82-A2DA-F2732037483B}" type="datetimeFigureOut">
              <a:rPr lang="hu-HU" smtClean="0"/>
              <a:t>2026. 03. 13.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7643E9EA-C243-4815-829F-94930FB02CCF}" type="slidenum">
              <a:rPr lang="hu-HU" smtClean="0"/>
              <a:t>‹#›</a:t>
            </a:fld>
            <a:endParaRPr lang="hu-HU"/>
          </a:p>
        </p:txBody>
      </p:sp>
    </p:spTree>
    <p:extLst>
      <p:ext uri="{BB962C8B-B14F-4D97-AF65-F5344CB8AC3E}">
        <p14:creationId xmlns:p14="http://schemas.microsoft.com/office/powerpoint/2010/main" val="1020394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hu-HU"/>
              <a:t>Mintacím szerkesztése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F23DEE0-B9D0-4A82-A2DA-F2732037483B}" type="datetimeFigureOut">
              <a:rPr lang="hu-HU" smtClean="0"/>
              <a:t>2026. 03. 13.</a:t>
            </a:fld>
            <a:endParaRPr lang="hu-HU"/>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hu-HU"/>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643E9EA-C243-4815-829F-94930FB02CCF}" type="slidenum">
              <a:rPr lang="hu-HU" smtClean="0"/>
              <a:t>‹#›</a:t>
            </a:fld>
            <a:endParaRPr lang="hu-HU"/>
          </a:p>
        </p:txBody>
      </p:sp>
    </p:spTree>
    <p:extLst>
      <p:ext uri="{BB962C8B-B14F-4D97-AF65-F5344CB8AC3E}">
        <p14:creationId xmlns:p14="http://schemas.microsoft.com/office/powerpoint/2010/main" val="1972141099"/>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p:txBody>
          <a:bodyPr/>
          <a:lstStyle/>
          <a:p>
            <a:r>
              <a:rPr lang="hu-HU" dirty="0" err="1"/>
              <a:t>DrivePro</a:t>
            </a:r>
            <a:endParaRPr lang="hu-HU" dirty="0"/>
          </a:p>
        </p:txBody>
      </p:sp>
      <p:sp>
        <p:nvSpPr>
          <p:cNvPr id="3" name="Alcím 2"/>
          <p:cNvSpPr>
            <a:spLocks noGrp="1"/>
          </p:cNvSpPr>
          <p:nvPr>
            <p:ph type="subTitle" idx="1"/>
          </p:nvPr>
        </p:nvSpPr>
        <p:spPr/>
        <p:txBody>
          <a:bodyPr/>
          <a:lstStyle/>
          <a:p>
            <a:r>
              <a:rPr lang="hu-HU" dirty="0"/>
              <a:t> </a:t>
            </a:r>
          </a:p>
        </p:txBody>
      </p:sp>
    </p:spTree>
    <p:extLst>
      <p:ext uri="{BB962C8B-B14F-4D97-AF65-F5344CB8AC3E}">
        <p14:creationId xmlns:p14="http://schemas.microsoft.com/office/powerpoint/2010/main" val="51792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a:t>Members</a:t>
            </a:r>
            <a:r>
              <a:rPr lang="hu-HU" dirty="0"/>
              <a:t> and </a:t>
            </a:r>
            <a:r>
              <a:rPr lang="hu-HU" dirty="0" err="1"/>
              <a:t>Tasks</a:t>
            </a:r>
            <a:endParaRPr lang="hu-HU" dirty="0"/>
          </a:p>
        </p:txBody>
      </p:sp>
      <p:sp>
        <p:nvSpPr>
          <p:cNvPr id="3" name="Tartalom helye 2"/>
          <p:cNvSpPr>
            <a:spLocks noGrp="1"/>
          </p:cNvSpPr>
          <p:nvPr>
            <p:ph idx="1"/>
          </p:nvPr>
        </p:nvSpPr>
        <p:spPr/>
        <p:txBody>
          <a:bodyPr>
            <a:normAutofit/>
          </a:bodyPr>
          <a:lstStyle/>
          <a:p>
            <a:r>
              <a:rPr lang="hu-HU" sz="2400" b="1" u="sng" dirty="0"/>
              <a:t>Project </a:t>
            </a:r>
            <a:r>
              <a:rPr lang="hu-HU" sz="2400" b="1" u="sng" dirty="0" err="1"/>
              <a:t>members</a:t>
            </a:r>
            <a:r>
              <a:rPr lang="hu-HU" sz="2400" b="1" u="sng" dirty="0"/>
              <a:t>: </a:t>
            </a:r>
            <a:r>
              <a:rPr lang="hu-HU" sz="2400" dirty="0"/>
              <a:t>Soma </a:t>
            </a:r>
            <a:r>
              <a:rPr lang="hu-HU" sz="2400" dirty="0" err="1"/>
              <a:t>Hutkai</a:t>
            </a:r>
            <a:r>
              <a:rPr lang="hu-HU" sz="2400" dirty="0"/>
              <a:t>, Levente </a:t>
            </a:r>
            <a:r>
              <a:rPr lang="hu-HU" sz="2400" dirty="0" err="1"/>
              <a:t>Jurkó</a:t>
            </a:r>
            <a:r>
              <a:rPr lang="hu-HU" sz="2400" dirty="0"/>
              <a:t> and Ákos Hegedüs</a:t>
            </a:r>
          </a:p>
          <a:p>
            <a:r>
              <a:rPr lang="hu-HU" sz="2400" b="1" u="sng" dirty="0" err="1"/>
              <a:t>Task</a:t>
            </a:r>
            <a:r>
              <a:rPr lang="hu-HU" sz="2400" b="1" u="sng" dirty="0"/>
              <a:t>: </a:t>
            </a:r>
            <a:r>
              <a:rPr lang="hu-HU" sz="2400" dirty="0"/>
              <a:t>Soma </a:t>
            </a:r>
            <a:r>
              <a:rPr lang="hu-HU" sz="2400" dirty="0" err="1"/>
              <a:t>Hutkai</a:t>
            </a:r>
            <a:r>
              <a:rPr lang="hu-HU" sz="2400" dirty="0"/>
              <a:t>: Frontend, Soma </a:t>
            </a:r>
            <a:r>
              <a:rPr lang="hu-HU" sz="2400" dirty="0" err="1"/>
              <a:t>Jurkó</a:t>
            </a:r>
            <a:r>
              <a:rPr lang="hu-HU" sz="2400" dirty="0"/>
              <a:t>: Frontend and </a:t>
            </a:r>
            <a:r>
              <a:rPr lang="hu-HU" sz="2400" dirty="0" err="1"/>
              <a:t>Database</a:t>
            </a:r>
            <a:r>
              <a:rPr lang="hu-HU" sz="2400" dirty="0"/>
              <a:t>, Ákos Hegedüs: Backend</a:t>
            </a:r>
          </a:p>
          <a:p>
            <a:r>
              <a:rPr lang="hu-HU" sz="2400" b="1" u="sng" dirty="0"/>
              <a:t>Project Manager</a:t>
            </a:r>
            <a:r>
              <a:rPr lang="hu-HU" sz="2400" b="1" u="sng"/>
              <a:t>: </a:t>
            </a:r>
            <a:r>
              <a:rPr lang="hu-HU" sz="2400"/>
              <a:t>Ákos Hegedüs</a:t>
            </a:r>
            <a:endParaRPr lang="hu-HU" sz="2400" dirty="0"/>
          </a:p>
          <a:p>
            <a:r>
              <a:rPr lang="hu-HU" sz="2400" b="1" u="sng" dirty="0"/>
              <a:t>Project </a:t>
            </a:r>
            <a:r>
              <a:rPr lang="hu-HU" sz="2400" b="1" u="sng" dirty="0" err="1"/>
              <a:t>goal</a:t>
            </a:r>
            <a:r>
              <a:rPr lang="hu-HU" sz="2400" b="1" u="sng" dirty="0"/>
              <a:t>: </a:t>
            </a:r>
            <a:r>
              <a:rPr lang="hu-HU" sz="2400" dirty="0" err="1"/>
              <a:t>Renew</a:t>
            </a:r>
            <a:r>
              <a:rPr lang="hu-HU" sz="2400" dirty="0"/>
              <a:t> and </a:t>
            </a:r>
            <a:r>
              <a:rPr lang="hu-HU" sz="2400" dirty="0" err="1"/>
              <a:t>modernize</a:t>
            </a:r>
            <a:r>
              <a:rPr lang="hu-HU" sz="2400" dirty="0"/>
              <a:t> </a:t>
            </a:r>
            <a:r>
              <a:rPr lang="hu-HU" sz="2400" dirty="0" err="1"/>
              <a:t>the</a:t>
            </a:r>
            <a:r>
              <a:rPr lang="hu-HU" sz="2400" dirty="0"/>
              <a:t> </a:t>
            </a:r>
            <a:r>
              <a:rPr lang="hu-HU" sz="2400" dirty="0" err="1"/>
              <a:t>driver’s</a:t>
            </a:r>
            <a:r>
              <a:rPr lang="hu-HU" sz="2400" dirty="0"/>
              <a:t> </a:t>
            </a:r>
            <a:r>
              <a:rPr lang="hu-HU" sz="2400" dirty="0" err="1"/>
              <a:t>license</a:t>
            </a:r>
            <a:r>
              <a:rPr lang="hu-HU" sz="2400" dirty="0"/>
              <a:t> </a:t>
            </a:r>
            <a:r>
              <a:rPr lang="hu-HU" sz="2400" dirty="0" err="1"/>
              <a:t>acquisition</a:t>
            </a:r>
            <a:r>
              <a:rPr lang="hu-HU" sz="2400" dirty="0"/>
              <a:t> </a:t>
            </a:r>
            <a:r>
              <a:rPr lang="hu-HU" sz="2400" dirty="0" err="1"/>
              <a:t>process</a:t>
            </a:r>
            <a:r>
              <a:rPr lang="hu-HU" sz="2400" dirty="0"/>
              <a:t> </a:t>
            </a:r>
            <a:r>
              <a:rPr lang="hu-HU" sz="2400" dirty="0" err="1"/>
              <a:t>to</a:t>
            </a:r>
            <a:r>
              <a:rPr lang="hu-HU" sz="2400" dirty="0"/>
              <a:t> </a:t>
            </a:r>
            <a:r>
              <a:rPr lang="hu-HU" sz="2400" dirty="0" err="1"/>
              <a:t>make</a:t>
            </a:r>
            <a:r>
              <a:rPr lang="hu-HU" sz="2400" dirty="0"/>
              <a:t> it </a:t>
            </a:r>
            <a:r>
              <a:rPr lang="hu-HU" sz="2400" dirty="0" err="1"/>
              <a:t>easy</a:t>
            </a:r>
            <a:r>
              <a:rPr lang="hu-HU" sz="2400" dirty="0"/>
              <a:t> </a:t>
            </a:r>
            <a:r>
              <a:rPr lang="hu-HU" sz="2400" dirty="0" err="1"/>
              <a:t>to</a:t>
            </a:r>
            <a:r>
              <a:rPr lang="hu-HU" sz="2400" dirty="0"/>
              <a:t> </a:t>
            </a:r>
            <a:r>
              <a:rPr lang="hu-HU" sz="2400" dirty="0" err="1"/>
              <a:t>ise</a:t>
            </a:r>
            <a:r>
              <a:rPr lang="hu-HU" sz="2400" dirty="0"/>
              <a:t> </a:t>
            </a:r>
            <a:r>
              <a:rPr lang="hu-HU" sz="2400" dirty="0" err="1"/>
              <a:t>for</a:t>
            </a:r>
            <a:r>
              <a:rPr lang="hu-HU" sz="2400" dirty="0"/>
              <a:t> </a:t>
            </a:r>
            <a:r>
              <a:rPr lang="hu-HU" sz="2400" dirty="0" err="1"/>
              <a:t>all</a:t>
            </a:r>
            <a:r>
              <a:rPr lang="hu-HU" sz="2400" dirty="0"/>
              <a:t> </a:t>
            </a:r>
            <a:r>
              <a:rPr lang="hu-HU" sz="2400" dirty="0" err="1"/>
              <a:t>users</a:t>
            </a:r>
            <a:r>
              <a:rPr lang="hu-HU" sz="2400" dirty="0"/>
              <a:t>.</a:t>
            </a:r>
          </a:p>
        </p:txBody>
      </p:sp>
    </p:spTree>
    <p:extLst>
      <p:ext uri="{BB962C8B-B14F-4D97-AF65-F5344CB8AC3E}">
        <p14:creationId xmlns:p14="http://schemas.microsoft.com/office/powerpoint/2010/main" val="2447294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7353B29-6A10-20D0-B8F4-8AEEEEBED307}"/>
              </a:ext>
            </a:extLst>
          </p:cNvPr>
          <p:cNvSpPr>
            <a:spLocks noGrp="1"/>
          </p:cNvSpPr>
          <p:nvPr>
            <p:ph type="title"/>
          </p:nvPr>
        </p:nvSpPr>
        <p:spPr>
          <a:xfrm>
            <a:off x="646112" y="452718"/>
            <a:ext cx="6224472" cy="1400530"/>
          </a:xfrm>
        </p:spPr>
        <p:txBody>
          <a:bodyPr/>
          <a:lstStyle/>
          <a:p>
            <a:r>
              <a:rPr lang="hu-HU" dirty="0"/>
              <a:t>Backend login/</a:t>
            </a:r>
            <a:r>
              <a:rPr lang="hu-HU" dirty="0" err="1"/>
              <a:t>registration</a:t>
            </a:r>
            <a:endParaRPr lang="hu-HU" dirty="0"/>
          </a:p>
        </p:txBody>
      </p:sp>
      <p:sp>
        <p:nvSpPr>
          <p:cNvPr id="6" name="Szövegdoboz 5">
            <a:extLst>
              <a:ext uri="{FF2B5EF4-FFF2-40B4-BE49-F238E27FC236}">
                <a16:creationId xmlns:a16="http://schemas.microsoft.com/office/drawing/2014/main" id="{AC3A688A-2C50-FC01-9121-CDA43474A957}"/>
              </a:ext>
            </a:extLst>
          </p:cNvPr>
          <p:cNvSpPr txBox="1"/>
          <p:nvPr/>
        </p:nvSpPr>
        <p:spPr>
          <a:xfrm>
            <a:off x="814191" y="1711890"/>
            <a:ext cx="5281808"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dirty="0">
                <a:ea typeface="+mn-lt"/>
                <a:cs typeface="+mn-lt"/>
              </a:rPr>
              <a:t>The </a:t>
            </a:r>
            <a:r>
              <a:rPr lang="hu-HU" err="1">
                <a:ea typeface="+mn-lt"/>
                <a:cs typeface="+mn-lt"/>
              </a:rPr>
              <a:t>first</a:t>
            </a:r>
            <a:r>
              <a:rPr lang="hu-HU" dirty="0">
                <a:ea typeface="+mn-lt"/>
                <a:cs typeface="+mn-lt"/>
              </a:rPr>
              <a:t> image shows </a:t>
            </a:r>
            <a:r>
              <a:rPr lang="hu-HU" err="1">
                <a:ea typeface="+mn-lt"/>
                <a:cs typeface="+mn-lt"/>
              </a:rPr>
              <a:t>the</a:t>
            </a:r>
            <a:r>
              <a:rPr lang="hu-HU" dirty="0">
                <a:ea typeface="+mn-lt"/>
                <a:cs typeface="+mn-lt"/>
              </a:rPr>
              <a:t> login. Here is a </a:t>
            </a:r>
            <a:r>
              <a:rPr lang="hu-HU" err="1">
                <a:ea typeface="+mn-lt"/>
                <a:cs typeface="+mn-lt"/>
              </a:rPr>
              <a:t>brief</a:t>
            </a:r>
            <a:r>
              <a:rPr lang="hu-HU" dirty="0">
                <a:ea typeface="+mn-lt"/>
                <a:cs typeface="+mn-lt"/>
              </a:rPr>
              <a:t> </a:t>
            </a:r>
            <a:r>
              <a:rPr lang="hu-HU" err="1">
                <a:ea typeface="+mn-lt"/>
                <a:cs typeface="+mn-lt"/>
              </a:rPr>
              <a:t>description</a:t>
            </a:r>
            <a:r>
              <a:rPr lang="hu-HU" dirty="0">
                <a:ea typeface="+mn-lt"/>
                <a:cs typeface="+mn-lt"/>
              </a:rPr>
              <a:t> of </a:t>
            </a:r>
            <a:r>
              <a:rPr lang="hu-HU" err="1">
                <a:ea typeface="+mn-lt"/>
                <a:cs typeface="+mn-lt"/>
              </a:rPr>
              <a:t>how</a:t>
            </a:r>
            <a:r>
              <a:rPr lang="hu-HU" dirty="0">
                <a:ea typeface="+mn-lt"/>
                <a:cs typeface="+mn-lt"/>
              </a:rPr>
              <a:t> </a:t>
            </a:r>
            <a:r>
              <a:rPr lang="hu-HU" err="1">
                <a:ea typeface="+mn-lt"/>
                <a:cs typeface="+mn-lt"/>
              </a:rPr>
              <a:t>it</a:t>
            </a:r>
            <a:r>
              <a:rPr lang="hu-HU" dirty="0">
                <a:ea typeface="+mn-lt"/>
                <a:cs typeface="+mn-lt"/>
              </a:rPr>
              <a:t> </a:t>
            </a:r>
            <a:r>
              <a:rPr lang="hu-HU" err="1">
                <a:ea typeface="+mn-lt"/>
                <a:cs typeface="+mn-lt"/>
              </a:rPr>
              <a:t>works</a:t>
            </a:r>
            <a:r>
              <a:rPr lang="hu-HU" dirty="0">
                <a:ea typeface="+mn-lt"/>
                <a:cs typeface="+mn-lt"/>
              </a:rPr>
              <a:t>. </a:t>
            </a:r>
            <a:r>
              <a:rPr lang="hu-HU" err="1">
                <a:ea typeface="+mn-lt"/>
                <a:cs typeface="+mn-lt"/>
              </a:rPr>
              <a:t>It</a:t>
            </a:r>
            <a:r>
              <a:rPr lang="hu-HU" dirty="0">
                <a:ea typeface="+mn-lt"/>
                <a:cs typeface="+mn-lt"/>
              </a:rPr>
              <a:t> </a:t>
            </a:r>
            <a:r>
              <a:rPr lang="hu-HU" err="1">
                <a:ea typeface="+mn-lt"/>
                <a:cs typeface="+mn-lt"/>
              </a:rPr>
              <a:t>retrieves</a:t>
            </a:r>
            <a:r>
              <a:rPr lang="hu-HU" dirty="0">
                <a:ea typeface="+mn-lt"/>
                <a:cs typeface="+mn-lt"/>
              </a:rPr>
              <a:t> </a:t>
            </a:r>
            <a:r>
              <a:rPr lang="hu-HU" err="1">
                <a:ea typeface="+mn-lt"/>
                <a:cs typeface="+mn-lt"/>
              </a:rPr>
              <a:t>the</a:t>
            </a:r>
            <a:r>
              <a:rPr lang="hu-HU" dirty="0">
                <a:ea typeface="+mn-lt"/>
                <a:cs typeface="+mn-lt"/>
              </a:rPr>
              <a:t> email </a:t>
            </a:r>
            <a:r>
              <a:rPr lang="hu-HU" err="1">
                <a:ea typeface="+mn-lt"/>
                <a:cs typeface="+mn-lt"/>
              </a:rPr>
              <a:t>address</a:t>
            </a:r>
            <a:r>
              <a:rPr lang="hu-HU" dirty="0">
                <a:ea typeface="+mn-lt"/>
                <a:cs typeface="+mn-lt"/>
              </a:rPr>
              <a:t> and </a:t>
            </a:r>
            <a:r>
              <a:rPr lang="hu-HU" err="1">
                <a:ea typeface="+mn-lt"/>
                <a:cs typeface="+mn-lt"/>
              </a:rPr>
              <a:t>password</a:t>
            </a:r>
            <a:r>
              <a:rPr lang="hu-HU" dirty="0">
                <a:ea typeface="+mn-lt"/>
                <a:cs typeface="+mn-lt"/>
              </a:rPr>
              <a:t> </a:t>
            </a:r>
            <a:r>
              <a:rPr lang="hu-HU" err="1">
                <a:ea typeface="+mn-lt"/>
                <a:cs typeface="+mn-lt"/>
              </a:rPr>
              <a:t>from</a:t>
            </a:r>
            <a:r>
              <a:rPr lang="hu-HU" dirty="0">
                <a:ea typeface="+mn-lt"/>
                <a:cs typeface="+mn-lt"/>
              </a:rPr>
              <a:t> </a:t>
            </a:r>
            <a:r>
              <a:rPr lang="hu-HU" err="1">
                <a:ea typeface="+mn-lt"/>
                <a:cs typeface="+mn-lt"/>
              </a:rPr>
              <a:t>the</a:t>
            </a:r>
            <a:r>
              <a:rPr lang="hu-HU" dirty="0">
                <a:ea typeface="+mn-lt"/>
                <a:cs typeface="+mn-lt"/>
              </a:rPr>
              <a:t> </a:t>
            </a:r>
            <a:r>
              <a:rPr lang="hu-HU" err="1">
                <a:ea typeface="+mn-lt"/>
                <a:cs typeface="+mn-lt"/>
              </a:rPr>
              <a:t>registration</a:t>
            </a:r>
            <a:r>
              <a:rPr lang="hu-HU" dirty="0">
                <a:ea typeface="+mn-lt"/>
                <a:cs typeface="+mn-lt"/>
              </a:rPr>
              <a:t>. </a:t>
            </a:r>
            <a:r>
              <a:rPr lang="hu-HU" err="1">
                <a:ea typeface="+mn-lt"/>
                <a:cs typeface="+mn-lt"/>
              </a:rPr>
              <a:t>When</a:t>
            </a:r>
            <a:r>
              <a:rPr lang="hu-HU" dirty="0">
                <a:ea typeface="+mn-lt"/>
                <a:cs typeface="+mn-lt"/>
              </a:rPr>
              <a:t> </a:t>
            </a:r>
            <a:r>
              <a:rPr lang="hu-HU" err="1">
                <a:ea typeface="+mn-lt"/>
                <a:cs typeface="+mn-lt"/>
              </a:rPr>
              <a:t>someone</a:t>
            </a:r>
            <a:r>
              <a:rPr lang="hu-HU" dirty="0">
                <a:ea typeface="+mn-lt"/>
                <a:cs typeface="+mn-lt"/>
              </a:rPr>
              <a:t> </a:t>
            </a:r>
            <a:r>
              <a:rPr lang="hu-HU" err="1">
                <a:ea typeface="+mn-lt"/>
                <a:cs typeface="+mn-lt"/>
              </a:rPr>
              <a:t>wants</a:t>
            </a:r>
            <a:r>
              <a:rPr lang="hu-HU" dirty="0">
                <a:ea typeface="+mn-lt"/>
                <a:cs typeface="+mn-lt"/>
              </a:rPr>
              <a:t> </a:t>
            </a:r>
            <a:r>
              <a:rPr lang="hu-HU" err="1">
                <a:ea typeface="+mn-lt"/>
                <a:cs typeface="+mn-lt"/>
              </a:rPr>
              <a:t>to</a:t>
            </a:r>
            <a:r>
              <a:rPr lang="hu-HU" dirty="0">
                <a:ea typeface="+mn-lt"/>
                <a:cs typeface="+mn-lt"/>
              </a:rPr>
              <a:t> log in </a:t>
            </a:r>
            <a:r>
              <a:rPr lang="hu-HU" err="1">
                <a:ea typeface="+mn-lt"/>
                <a:cs typeface="+mn-lt"/>
              </a:rPr>
              <a:t>to</a:t>
            </a:r>
            <a:r>
              <a:rPr lang="hu-HU" dirty="0">
                <a:ea typeface="+mn-lt"/>
                <a:cs typeface="+mn-lt"/>
              </a:rPr>
              <a:t> </a:t>
            </a:r>
            <a:r>
              <a:rPr lang="hu-HU" err="1">
                <a:ea typeface="+mn-lt"/>
                <a:cs typeface="+mn-lt"/>
              </a:rPr>
              <a:t>the</a:t>
            </a:r>
            <a:r>
              <a:rPr lang="hu-HU" dirty="0">
                <a:ea typeface="+mn-lt"/>
                <a:cs typeface="+mn-lt"/>
              </a:rPr>
              <a:t> site, </a:t>
            </a:r>
            <a:r>
              <a:rPr lang="hu-HU" err="1">
                <a:ea typeface="+mn-lt"/>
                <a:cs typeface="+mn-lt"/>
              </a:rPr>
              <a:t>it</a:t>
            </a:r>
            <a:r>
              <a:rPr lang="hu-HU" dirty="0">
                <a:ea typeface="+mn-lt"/>
                <a:cs typeface="+mn-lt"/>
              </a:rPr>
              <a:t> </a:t>
            </a:r>
            <a:r>
              <a:rPr lang="hu-HU" err="1">
                <a:ea typeface="+mn-lt"/>
                <a:cs typeface="+mn-lt"/>
              </a:rPr>
              <a:t>first</a:t>
            </a:r>
            <a:r>
              <a:rPr lang="hu-HU" dirty="0">
                <a:ea typeface="+mn-lt"/>
                <a:cs typeface="+mn-lt"/>
              </a:rPr>
              <a:t> </a:t>
            </a:r>
            <a:r>
              <a:rPr lang="hu-HU" err="1">
                <a:ea typeface="+mn-lt"/>
                <a:cs typeface="+mn-lt"/>
              </a:rPr>
              <a:t>checks</a:t>
            </a:r>
            <a:r>
              <a:rPr lang="hu-HU" dirty="0">
                <a:ea typeface="+mn-lt"/>
                <a:cs typeface="+mn-lt"/>
              </a:rPr>
              <a:t> </a:t>
            </a:r>
            <a:r>
              <a:rPr lang="hu-HU" err="1">
                <a:ea typeface="+mn-lt"/>
                <a:cs typeface="+mn-lt"/>
              </a:rPr>
              <a:t>whether</a:t>
            </a:r>
            <a:r>
              <a:rPr lang="hu-HU" dirty="0">
                <a:ea typeface="+mn-lt"/>
                <a:cs typeface="+mn-lt"/>
              </a:rPr>
              <a:t> </a:t>
            </a:r>
            <a:r>
              <a:rPr lang="hu-HU" err="1">
                <a:ea typeface="+mn-lt"/>
                <a:cs typeface="+mn-lt"/>
              </a:rPr>
              <a:t>such</a:t>
            </a:r>
            <a:r>
              <a:rPr lang="hu-HU" dirty="0">
                <a:ea typeface="+mn-lt"/>
                <a:cs typeface="+mn-lt"/>
              </a:rPr>
              <a:t> an email </a:t>
            </a:r>
            <a:r>
              <a:rPr lang="hu-HU" err="1">
                <a:ea typeface="+mn-lt"/>
                <a:cs typeface="+mn-lt"/>
              </a:rPr>
              <a:t>address</a:t>
            </a:r>
            <a:r>
              <a:rPr lang="hu-HU" dirty="0">
                <a:ea typeface="+mn-lt"/>
                <a:cs typeface="+mn-lt"/>
              </a:rPr>
              <a:t> is </a:t>
            </a:r>
            <a:r>
              <a:rPr lang="hu-HU" err="1">
                <a:ea typeface="+mn-lt"/>
                <a:cs typeface="+mn-lt"/>
              </a:rPr>
              <a:t>stored</a:t>
            </a:r>
            <a:r>
              <a:rPr lang="hu-HU" dirty="0">
                <a:ea typeface="+mn-lt"/>
                <a:cs typeface="+mn-lt"/>
              </a:rPr>
              <a:t> in </a:t>
            </a:r>
            <a:r>
              <a:rPr lang="hu-HU" err="1">
                <a:ea typeface="+mn-lt"/>
                <a:cs typeface="+mn-lt"/>
              </a:rPr>
              <a:t>the</a:t>
            </a:r>
            <a:r>
              <a:rPr lang="hu-HU" dirty="0">
                <a:ea typeface="+mn-lt"/>
                <a:cs typeface="+mn-lt"/>
              </a:rPr>
              <a:t> </a:t>
            </a:r>
            <a:r>
              <a:rPr lang="hu-HU" err="1">
                <a:ea typeface="+mn-lt"/>
                <a:cs typeface="+mn-lt"/>
              </a:rPr>
              <a:t>database</a:t>
            </a:r>
            <a:r>
              <a:rPr lang="hu-HU" dirty="0">
                <a:ea typeface="+mn-lt"/>
                <a:cs typeface="+mn-lt"/>
              </a:rPr>
              <a:t>. </a:t>
            </a:r>
            <a:r>
              <a:rPr lang="hu-HU" err="1">
                <a:ea typeface="+mn-lt"/>
                <a:cs typeface="+mn-lt"/>
              </a:rPr>
              <a:t>If</a:t>
            </a:r>
            <a:r>
              <a:rPr lang="hu-HU" dirty="0">
                <a:ea typeface="+mn-lt"/>
                <a:cs typeface="+mn-lt"/>
              </a:rPr>
              <a:t> </a:t>
            </a:r>
            <a:r>
              <a:rPr lang="hu-HU" err="1">
                <a:ea typeface="+mn-lt"/>
                <a:cs typeface="+mn-lt"/>
              </a:rPr>
              <a:t>so</a:t>
            </a:r>
            <a:r>
              <a:rPr lang="hu-HU" dirty="0">
                <a:ea typeface="+mn-lt"/>
                <a:cs typeface="+mn-lt"/>
              </a:rPr>
              <a:t>, </a:t>
            </a:r>
            <a:r>
              <a:rPr lang="hu-HU" err="1">
                <a:ea typeface="+mn-lt"/>
                <a:cs typeface="+mn-lt"/>
              </a:rPr>
              <a:t>it</a:t>
            </a:r>
            <a:r>
              <a:rPr lang="hu-HU" dirty="0">
                <a:ea typeface="+mn-lt"/>
                <a:cs typeface="+mn-lt"/>
              </a:rPr>
              <a:t> </a:t>
            </a:r>
            <a:r>
              <a:rPr lang="hu-HU" err="1">
                <a:ea typeface="+mn-lt"/>
                <a:cs typeface="+mn-lt"/>
              </a:rPr>
              <a:t>checks</a:t>
            </a:r>
            <a:r>
              <a:rPr lang="hu-HU" dirty="0">
                <a:ea typeface="+mn-lt"/>
                <a:cs typeface="+mn-lt"/>
              </a:rPr>
              <a:t> </a:t>
            </a:r>
            <a:r>
              <a:rPr lang="hu-HU" err="1">
                <a:ea typeface="+mn-lt"/>
                <a:cs typeface="+mn-lt"/>
              </a:rPr>
              <a:t>the</a:t>
            </a:r>
            <a:r>
              <a:rPr lang="hu-HU" dirty="0">
                <a:ea typeface="+mn-lt"/>
                <a:cs typeface="+mn-lt"/>
              </a:rPr>
              <a:t> </a:t>
            </a:r>
            <a:r>
              <a:rPr lang="hu-HU" err="1">
                <a:ea typeface="+mn-lt"/>
                <a:cs typeface="+mn-lt"/>
              </a:rPr>
              <a:t>password</a:t>
            </a:r>
            <a:r>
              <a:rPr lang="hu-HU" dirty="0">
                <a:ea typeface="+mn-lt"/>
                <a:cs typeface="+mn-lt"/>
              </a:rPr>
              <a:t>, and </a:t>
            </a:r>
            <a:r>
              <a:rPr lang="hu-HU" err="1">
                <a:ea typeface="+mn-lt"/>
                <a:cs typeface="+mn-lt"/>
              </a:rPr>
              <a:t>if</a:t>
            </a:r>
            <a:r>
              <a:rPr lang="hu-HU" dirty="0">
                <a:ea typeface="+mn-lt"/>
                <a:cs typeface="+mn-lt"/>
              </a:rPr>
              <a:t> </a:t>
            </a:r>
            <a:r>
              <a:rPr lang="hu-HU" err="1">
                <a:ea typeface="+mn-lt"/>
                <a:cs typeface="+mn-lt"/>
              </a:rPr>
              <a:t>everything</a:t>
            </a:r>
            <a:r>
              <a:rPr lang="hu-HU" dirty="0">
                <a:ea typeface="+mn-lt"/>
                <a:cs typeface="+mn-lt"/>
              </a:rPr>
              <a:t> is </a:t>
            </a:r>
            <a:r>
              <a:rPr lang="hu-HU" err="1">
                <a:ea typeface="+mn-lt"/>
                <a:cs typeface="+mn-lt"/>
              </a:rPr>
              <a:t>correct</a:t>
            </a:r>
            <a:r>
              <a:rPr lang="hu-HU" dirty="0">
                <a:ea typeface="+mn-lt"/>
                <a:cs typeface="+mn-lt"/>
              </a:rPr>
              <a:t>, </a:t>
            </a:r>
            <a:r>
              <a:rPr lang="hu-HU" err="1">
                <a:ea typeface="+mn-lt"/>
                <a:cs typeface="+mn-lt"/>
              </a:rPr>
              <a:t>it</a:t>
            </a:r>
            <a:r>
              <a:rPr lang="hu-HU" dirty="0">
                <a:ea typeface="+mn-lt"/>
                <a:cs typeface="+mn-lt"/>
              </a:rPr>
              <a:t> </a:t>
            </a:r>
            <a:r>
              <a:rPr lang="hu-HU" err="1">
                <a:ea typeface="+mn-lt"/>
                <a:cs typeface="+mn-lt"/>
              </a:rPr>
              <a:t>generates</a:t>
            </a:r>
            <a:r>
              <a:rPr lang="hu-HU" dirty="0">
                <a:ea typeface="+mn-lt"/>
                <a:cs typeface="+mn-lt"/>
              </a:rPr>
              <a:t> a JWT </a:t>
            </a:r>
            <a:r>
              <a:rPr lang="hu-HU" err="1">
                <a:ea typeface="+mn-lt"/>
                <a:cs typeface="+mn-lt"/>
              </a:rPr>
              <a:t>token</a:t>
            </a:r>
            <a:r>
              <a:rPr lang="hu-HU" dirty="0">
                <a:ea typeface="+mn-lt"/>
                <a:cs typeface="+mn-lt"/>
              </a:rPr>
              <a:t>.</a:t>
            </a:r>
          </a:p>
          <a:p>
            <a:endParaRPr lang="hu-HU" dirty="0"/>
          </a:p>
          <a:p>
            <a:r>
              <a:rPr lang="hu-HU" dirty="0">
                <a:ea typeface="+mn-lt"/>
                <a:cs typeface="+mn-lt"/>
              </a:rPr>
              <a:t>The </a:t>
            </a:r>
            <a:r>
              <a:rPr lang="hu-HU" dirty="0" err="1">
                <a:ea typeface="+mn-lt"/>
                <a:cs typeface="+mn-lt"/>
              </a:rPr>
              <a:t>second</a:t>
            </a:r>
            <a:r>
              <a:rPr lang="hu-HU" dirty="0">
                <a:ea typeface="+mn-lt"/>
                <a:cs typeface="+mn-lt"/>
              </a:rPr>
              <a:t> image shows </a:t>
            </a:r>
            <a:r>
              <a:rPr lang="hu-HU" dirty="0" err="1">
                <a:ea typeface="+mn-lt"/>
                <a:cs typeface="+mn-lt"/>
              </a:rPr>
              <a:t>the</a:t>
            </a:r>
            <a:r>
              <a:rPr lang="hu-HU" dirty="0">
                <a:ea typeface="+mn-lt"/>
                <a:cs typeface="+mn-lt"/>
              </a:rPr>
              <a:t> </a:t>
            </a:r>
            <a:r>
              <a:rPr lang="hu-HU" dirty="0" err="1">
                <a:ea typeface="+mn-lt"/>
                <a:cs typeface="+mn-lt"/>
              </a:rPr>
              <a:t>register</a:t>
            </a:r>
            <a:r>
              <a:rPr lang="hu-HU" dirty="0">
                <a:ea typeface="+mn-lt"/>
                <a:cs typeface="+mn-lt"/>
              </a:rPr>
              <a:t>. </a:t>
            </a:r>
            <a:r>
              <a:rPr lang="hu-HU" dirty="0" err="1">
                <a:ea typeface="+mn-lt"/>
                <a:cs typeface="+mn-lt"/>
              </a:rPr>
              <a:t>It</a:t>
            </a:r>
            <a:r>
              <a:rPr lang="hu-HU" dirty="0">
                <a:ea typeface="+mn-lt"/>
                <a:cs typeface="+mn-lt"/>
              </a:rPr>
              <a:t> </a:t>
            </a:r>
            <a:r>
              <a:rPr lang="hu-HU" dirty="0" err="1">
                <a:ea typeface="+mn-lt"/>
                <a:cs typeface="+mn-lt"/>
              </a:rPr>
              <a:t>works</a:t>
            </a:r>
            <a:r>
              <a:rPr lang="hu-HU" dirty="0">
                <a:ea typeface="+mn-lt"/>
                <a:cs typeface="+mn-lt"/>
              </a:rPr>
              <a:t> </a:t>
            </a:r>
            <a:r>
              <a:rPr lang="hu-HU" dirty="0" err="1">
                <a:ea typeface="+mn-lt"/>
                <a:cs typeface="+mn-lt"/>
              </a:rPr>
              <a:t>by</a:t>
            </a:r>
            <a:r>
              <a:rPr lang="hu-HU" dirty="0">
                <a:ea typeface="+mn-lt"/>
                <a:cs typeface="+mn-lt"/>
              </a:rPr>
              <a:t> </a:t>
            </a:r>
            <a:r>
              <a:rPr lang="hu-HU" dirty="0" err="1">
                <a:ea typeface="+mn-lt"/>
                <a:cs typeface="+mn-lt"/>
              </a:rPr>
              <a:t>extracting</a:t>
            </a:r>
            <a:r>
              <a:rPr lang="hu-HU" dirty="0">
                <a:ea typeface="+mn-lt"/>
                <a:cs typeface="+mn-lt"/>
              </a:rPr>
              <a:t> </a:t>
            </a:r>
            <a:r>
              <a:rPr lang="hu-HU" dirty="0" err="1">
                <a:ea typeface="+mn-lt"/>
                <a:cs typeface="+mn-lt"/>
              </a:rPr>
              <a:t>all</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data</a:t>
            </a:r>
            <a:r>
              <a:rPr lang="hu-HU" dirty="0">
                <a:ea typeface="+mn-lt"/>
                <a:cs typeface="+mn-lt"/>
              </a:rPr>
              <a:t> entered </a:t>
            </a:r>
            <a:r>
              <a:rPr lang="hu-HU" dirty="0" err="1">
                <a:ea typeface="+mn-lt"/>
                <a:cs typeface="+mn-lt"/>
              </a:rPr>
              <a:t>on</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form</a:t>
            </a:r>
            <a:r>
              <a:rPr lang="hu-HU" dirty="0">
                <a:ea typeface="+mn-lt"/>
                <a:cs typeface="+mn-lt"/>
              </a:rPr>
              <a:t>. </a:t>
            </a:r>
            <a:r>
              <a:rPr lang="hu-HU" dirty="0" err="1">
                <a:ea typeface="+mn-lt"/>
                <a:cs typeface="+mn-lt"/>
              </a:rPr>
              <a:t>If</a:t>
            </a:r>
            <a:r>
              <a:rPr lang="hu-HU" dirty="0">
                <a:ea typeface="+mn-lt"/>
                <a:cs typeface="+mn-lt"/>
              </a:rPr>
              <a:t> </a:t>
            </a:r>
            <a:r>
              <a:rPr lang="hu-HU" dirty="0" err="1">
                <a:ea typeface="+mn-lt"/>
                <a:cs typeface="+mn-lt"/>
              </a:rPr>
              <a:t>someone</a:t>
            </a:r>
            <a:r>
              <a:rPr lang="hu-HU" dirty="0">
                <a:ea typeface="+mn-lt"/>
                <a:cs typeface="+mn-lt"/>
              </a:rPr>
              <a:t> </a:t>
            </a:r>
            <a:r>
              <a:rPr lang="hu-HU" dirty="0" err="1">
                <a:ea typeface="+mn-lt"/>
                <a:cs typeface="+mn-lt"/>
              </a:rPr>
              <a:t>wants</a:t>
            </a:r>
            <a:r>
              <a:rPr lang="hu-HU" dirty="0">
                <a:ea typeface="+mn-lt"/>
                <a:cs typeface="+mn-lt"/>
              </a:rPr>
              <a:t> </a:t>
            </a:r>
            <a:r>
              <a:rPr lang="hu-HU" dirty="0" err="1">
                <a:ea typeface="+mn-lt"/>
                <a:cs typeface="+mn-lt"/>
              </a:rPr>
              <a:t>to</a:t>
            </a:r>
            <a:r>
              <a:rPr lang="hu-HU" dirty="0">
                <a:ea typeface="+mn-lt"/>
                <a:cs typeface="+mn-lt"/>
              </a:rPr>
              <a:t> </a:t>
            </a:r>
            <a:r>
              <a:rPr lang="hu-HU" dirty="0" err="1">
                <a:ea typeface="+mn-lt"/>
                <a:cs typeface="+mn-lt"/>
              </a:rPr>
              <a:t>register</a:t>
            </a:r>
            <a:r>
              <a:rPr lang="hu-HU" dirty="0">
                <a:ea typeface="+mn-lt"/>
                <a:cs typeface="+mn-lt"/>
              </a:rPr>
              <a:t> </a:t>
            </a:r>
            <a:r>
              <a:rPr lang="hu-HU" dirty="0" err="1">
                <a:ea typeface="+mn-lt"/>
                <a:cs typeface="+mn-lt"/>
              </a:rPr>
              <a:t>as</a:t>
            </a:r>
            <a:r>
              <a:rPr lang="hu-HU" dirty="0">
                <a:ea typeface="+mn-lt"/>
                <a:cs typeface="+mn-lt"/>
              </a:rPr>
              <a:t> a </a:t>
            </a:r>
            <a:r>
              <a:rPr lang="hu-HU" dirty="0" err="1">
                <a:ea typeface="+mn-lt"/>
                <a:cs typeface="+mn-lt"/>
              </a:rPr>
              <a:t>teacher</a:t>
            </a:r>
            <a:r>
              <a:rPr lang="hu-HU" dirty="0">
                <a:ea typeface="+mn-lt"/>
                <a:cs typeface="+mn-lt"/>
              </a:rPr>
              <a:t>, </a:t>
            </a:r>
            <a:r>
              <a:rPr lang="hu-HU" dirty="0" err="1">
                <a:ea typeface="+mn-lt"/>
                <a:cs typeface="+mn-lt"/>
              </a:rPr>
              <a:t>they</a:t>
            </a:r>
            <a:r>
              <a:rPr lang="hu-HU" dirty="0">
                <a:ea typeface="+mn-lt"/>
                <a:cs typeface="+mn-lt"/>
              </a:rPr>
              <a:t> must enter a </a:t>
            </a:r>
            <a:r>
              <a:rPr lang="hu-HU" dirty="0" err="1">
                <a:ea typeface="+mn-lt"/>
                <a:cs typeface="+mn-lt"/>
              </a:rPr>
              <a:t>teacher</a:t>
            </a:r>
            <a:r>
              <a:rPr lang="hu-HU" dirty="0">
                <a:ea typeface="+mn-lt"/>
                <a:cs typeface="+mn-lt"/>
              </a:rPr>
              <a:t> </a:t>
            </a:r>
            <a:r>
              <a:rPr lang="hu-HU" dirty="0" err="1">
                <a:ea typeface="+mn-lt"/>
                <a:cs typeface="+mn-lt"/>
              </a:rPr>
              <a:t>code</a:t>
            </a:r>
            <a:r>
              <a:rPr lang="hu-HU" dirty="0">
                <a:ea typeface="+mn-lt"/>
                <a:cs typeface="+mn-lt"/>
              </a:rPr>
              <a:t>. </a:t>
            </a:r>
            <a:r>
              <a:rPr lang="hu-HU" dirty="0" err="1">
                <a:ea typeface="+mn-lt"/>
                <a:cs typeface="+mn-lt"/>
              </a:rPr>
              <a:t>If</a:t>
            </a:r>
            <a:r>
              <a:rPr lang="hu-HU" dirty="0">
                <a:ea typeface="+mn-lt"/>
                <a:cs typeface="+mn-lt"/>
              </a:rPr>
              <a:t> </a:t>
            </a:r>
            <a:r>
              <a:rPr lang="hu-HU" dirty="0" err="1">
                <a:ea typeface="+mn-lt"/>
                <a:cs typeface="+mn-lt"/>
              </a:rPr>
              <a:t>they</a:t>
            </a:r>
            <a:r>
              <a:rPr lang="hu-HU" dirty="0">
                <a:ea typeface="+mn-lt"/>
                <a:cs typeface="+mn-lt"/>
              </a:rPr>
              <a:t> </a:t>
            </a:r>
            <a:r>
              <a:rPr lang="hu-HU" dirty="0" err="1">
                <a:ea typeface="+mn-lt"/>
                <a:cs typeface="+mn-lt"/>
              </a:rPr>
              <a:t>do</a:t>
            </a:r>
            <a:r>
              <a:rPr lang="hu-HU" dirty="0">
                <a:ea typeface="+mn-lt"/>
                <a:cs typeface="+mn-lt"/>
              </a:rPr>
              <a:t> </a:t>
            </a:r>
            <a:r>
              <a:rPr lang="hu-HU" dirty="0" err="1">
                <a:ea typeface="+mn-lt"/>
                <a:cs typeface="+mn-lt"/>
              </a:rPr>
              <a:t>not</a:t>
            </a:r>
            <a:r>
              <a:rPr lang="hu-HU" dirty="0">
                <a:ea typeface="+mn-lt"/>
                <a:cs typeface="+mn-lt"/>
              </a:rPr>
              <a:t> enter </a:t>
            </a:r>
            <a:r>
              <a:rPr lang="hu-HU" dirty="0" err="1">
                <a:ea typeface="+mn-lt"/>
                <a:cs typeface="+mn-lt"/>
              </a:rPr>
              <a:t>one</a:t>
            </a:r>
            <a:r>
              <a:rPr lang="hu-HU" dirty="0">
                <a:ea typeface="+mn-lt"/>
                <a:cs typeface="+mn-lt"/>
              </a:rPr>
              <a:t> </a:t>
            </a:r>
            <a:r>
              <a:rPr lang="hu-HU" dirty="0" err="1">
                <a:ea typeface="+mn-lt"/>
                <a:cs typeface="+mn-lt"/>
              </a:rPr>
              <a:t>or</a:t>
            </a:r>
            <a:r>
              <a:rPr lang="hu-HU" dirty="0">
                <a:ea typeface="+mn-lt"/>
                <a:cs typeface="+mn-lt"/>
              </a:rPr>
              <a:t> </a:t>
            </a:r>
            <a:r>
              <a:rPr lang="hu-HU" dirty="0" err="1">
                <a:ea typeface="+mn-lt"/>
                <a:cs typeface="+mn-lt"/>
              </a:rPr>
              <a:t>it</a:t>
            </a:r>
            <a:r>
              <a:rPr lang="hu-HU" dirty="0">
                <a:ea typeface="+mn-lt"/>
                <a:cs typeface="+mn-lt"/>
              </a:rPr>
              <a:t> is </a:t>
            </a:r>
            <a:r>
              <a:rPr lang="hu-HU" dirty="0" err="1">
                <a:ea typeface="+mn-lt"/>
                <a:cs typeface="+mn-lt"/>
              </a:rPr>
              <a:t>incorrect</a:t>
            </a:r>
            <a:r>
              <a:rPr lang="hu-HU" dirty="0">
                <a:ea typeface="+mn-lt"/>
                <a:cs typeface="+mn-lt"/>
              </a:rPr>
              <a:t>, </a:t>
            </a:r>
            <a:r>
              <a:rPr lang="hu-HU" dirty="0" err="1">
                <a:ea typeface="+mn-lt"/>
                <a:cs typeface="+mn-lt"/>
              </a:rPr>
              <a:t>they</a:t>
            </a:r>
            <a:r>
              <a:rPr lang="hu-HU" dirty="0">
                <a:ea typeface="+mn-lt"/>
                <a:cs typeface="+mn-lt"/>
              </a:rPr>
              <a:t> </a:t>
            </a:r>
            <a:r>
              <a:rPr lang="hu-HU" dirty="0" err="1">
                <a:ea typeface="+mn-lt"/>
                <a:cs typeface="+mn-lt"/>
              </a:rPr>
              <a:t>cannot</a:t>
            </a:r>
            <a:r>
              <a:rPr lang="hu-HU" dirty="0">
                <a:ea typeface="+mn-lt"/>
                <a:cs typeface="+mn-lt"/>
              </a:rPr>
              <a:t> </a:t>
            </a:r>
            <a:r>
              <a:rPr lang="hu-HU" dirty="0" err="1">
                <a:ea typeface="+mn-lt"/>
                <a:cs typeface="+mn-lt"/>
              </a:rPr>
              <a:t>register</a:t>
            </a:r>
            <a:r>
              <a:rPr lang="hu-HU" dirty="0">
                <a:ea typeface="+mn-lt"/>
                <a:cs typeface="+mn-lt"/>
              </a:rPr>
              <a:t> </a:t>
            </a:r>
            <a:r>
              <a:rPr lang="hu-HU" dirty="0" err="1">
                <a:ea typeface="+mn-lt"/>
                <a:cs typeface="+mn-lt"/>
              </a:rPr>
              <a:t>as</a:t>
            </a:r>
            <a:r>
              <a:rPr lang="hu-HU" dirty="0">
                <a:ea typeface="+mn-lt"/>
                <a:cs typeface="+mn-lt"/>
              </a:rPr>
              <a:t> a </a:t>
            </a:r>
            <a:r>
              <a:rPr lang="hu-HU" dirty="0" err="1">
                <a:ea typeface="+mn-lt"/>
                <a:cs typeface="+mn-lt"/>
              </a:rPr>
              <a:t>teacher</a:t>
            </a:r>
            <a:r>
              <a:rPr lang="hu-HU" dirty="0">
                <a:ea typeface="+mn-lt"/>
                <a:cs typeface="+mn-lt"/>
              </a:rPr>
              <a:t>. </a:t>
            </a:r>
            <a:r>
              <a:rPr lang="hu-HU" dirty="0" err="1">
                <a:ea typeface="+mn-lt"/>
                <a:cs typeface="+mn-lt"/>
              </a:rPr>
              <a:t>After</a:t>
            </a:r>
            <a:r>
              <a:rPr lang="hu-HU" dirty="0">
                <a:ea typeface="+mn-lt"/>
                <a:cs typeface="+mn-lt"/>
              </a:rPr>
              <a:t> </a:t>
            </a:r>
            <a:r>
              <a:rPr lang="hu-HU" dirty="0" err="1">
                <a:ea typeface="+mn-lt"/>
                <a:cs typeface="+mn-lt"/>
              </a:rPr>
              <a:t>this</a:t>
            </a:r>
            <a:r>
              <a:rPr lang="hu-HU" dirty="0">
                <a:ea typeface="+mn-lt"/>
                <a:cs typeface="+mn-lt"/>
              </a:rPr>
              <a:t>, </a:t>
            </a:r>
            <a:r>
              <a:rPr lang="hu-HU" dirty="0" err="1">
                <a:ea typeface="+mn-lt"/>
                <a:cs typeface="+mn-lt"/>
              </a:rPr>
              <a:t>we</a:t>
            </a:r>
            <a:r>
              <a:rPr lang="hu-HU" dirty="0">
                <a:ea typeface="+mn-lt"/>
                <a:cs typeface="+mn-lt"/>
              </a:rPr>
              <a:t> </a:t>
            </a:r>
            <a:r>
              <a:rPr lang="hu-HU" dirty="0" err="1">
                <a:ea typeface="+mn-lt"/>
                <a:cs typeface="+mn-lt"/>
              </a:rPr>
              <a:t>encrypt</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password</a:t>
            </a:r>
            <a:r>
              <a:rPr lang="hu-HU" dirty="0">
                <a:ea typeface="+mn-lt"/>
                <a:cs typeface="+mn-lt"/>
              </a:rPr>
              <a:t> and </a:t>
            </a:r>
            <a:r>
              <a:rPr lang="hu-HU" dirty="0" err="1">
                <a:ea typeface="+mn-lt"/>
                <a:cs typeface="+mn-lt"/>
              </a:rPr>
              <a:t>create</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table</a:t>
            </a:r>
            <a:r>
              <a:rPr lang="hu-HU" dirty="0">
                <a:ea typeface="+mn-lt"/>
                <a:cs typeface="+mn-lt"/>
              </a:rPr>
              <a:t> in </a:t>
            </a:r>
            <a:r>
              <a:rPr lang="hu-HU" dirty="0" err="1">
                <a:ea typeface="+mn-lt"/>
                <a:cs typeface="+mn-lt"/>
              </a:rPr>
              <a:t>the</a:t>
            </a:r>
            <a:r>
              <a:rPr lang="hu-HU" dirty="0">
                <a:ea typeface="+mn-lt"/>
                <a:cs typeface="+mn-lt"/>
              </a:rPr>
              <a:t> </a:t>
            </a:r>
            <a:r>
              <a:rPr lang="hu-HU" dirty="0" err="1">
                <a:ea typeface="+mn-lt"/>
                <a:cs typeface="+mn-lt"/>
              </a:rPr>
              <a:t>database</a:t>
            </a:r>
            <a:r>
              <a:rPr lang="hu-HU" dirty="0">
                <a:ea typeface="+mn-lt"/>
                <a:cs typeface="+mn-lt"/>
              </a:rPr>
              <a:t>.</a:t>
            </a:r>
            <a:endParaRPr lang="hu-HU" dirty="0"/>
          </a:p>
        </p:txBody>
      </p:sp>
      <p:sp>
        <p:nvSpPr>
          <p:cNvPr id="3" name="Tartalom helye 2"/>
          <p:cNvSpPr>
            <a:spLocks noGrp="1"/>
          </p:cNvSpPr>
          <p:nvPr>
            <p:ph idx="1"/>
          </p:nvPr>
        </p:nvSpPr>
        <p:spPr/>
        <p:txBody>
          <a:bodyPr/>
          <a:lstStyle/>
          <a:p>
            <a:endParaRPr lang="hu-HU"/>
          </a:p>
        </p:txBody>
      </p:sp>
      <p:pic>
        <p:nvPicPr>
          <p:cNvPr id="8" name="Kép 7"/>
          <p:cNvPicPr>
            <a:picLocks noChangeAspect="1"/>
          </p:cNvPicPr>
          <p:nvPr/>
        </p:nvPicPr>
        <p:blipFill>
          <a:blip r:embed="rId2"/>
          <a:stretch>
            <a:fillRect/>
          </a:stretch>
        </p:blipFill>
        <p:spPr>
          <a:xfrm>
            <a:off x="7463436" y="99835"/>
            <a:ext cx="4564367" cy="3132035"/>
          </a:xfrm>
          <a:prstGeom prst="rect">
            <a:avLst/>
          </a:prstGeom>
        </p:spPr>
      </p:pic>
      <p:pic>
        <p:nvPicPr>
          <p:cNvPr id="9" name="Kép 8"/>
          <p:cNvPicPr>
            <a:picLocks noChangeAspect="1"/>
          </p:cNvPicPr>
          <p:nvPr/>
        </p:nvPicPr>
        <p:blipFill>
          <a:blip r:embed="rId3"/>
          <a:stretch>
            <a:fillRect/>
          </a:stretch>
        </p:blipFill>
        <p:spPr>
          <a:xfrm>
            <a:off x="7360761" y="3331705"/>
            <a:ext cx="4769719" cy="3522281"/>
          </a:xfrm>
          <a:prstGeom prst="rect">
            <a:avLst/>
          </a:prstGeom>
        </p:spPr>
      </p:pic>
    </p:spTree>
    <p:extLst>
      <p:ext uri="{BB962C8B-B14F-4D97-AF65-F5344CB8AC3E}">
        <p14:creationId xmlns:p14="http://schemas.microsoft.com/office/powerpoint/2010/main" val="1267364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819DCEF-A57B-566D-61AC-E65F75605087}"/>
              </a:ext>
            </a:extLst>
          </p:cNvPr>
          <p:cNvSpPr>
            <a:spLocks noGrp="1"/>
          </p:cNvSpPr>
          <p:nvPr>
            <p:ph type="title"/>
          </p:nvPr>
        </p:nvSpPr>
        <p:spPr/>
        <p:txBody>
          <a:bodyPr/>
          <a:lstStyle/>
          <a:p>
            <a:r>
              <a:rPr lang="hu-HU" dirty="0"/>
              <a:t>Backend </a:t>
            </a:r>
            <a:r>
              <a:rPr lang="hu-HU" dirty="0" err="1"/>
              <a:t>multer</a:t>
            </a:r>
          </a:p>
        </p:txBody>
      </p:sp>
      <p:sp>
        <p:nvSpPr>
          <p:cNvPr id="6" name="Szövegdoboz 5">
            <a:extLst>
              <a:ext uri="{FF2B5EF4-FFF2-40B4-BE49-F238E27FC236}">
                <a16:creationId xmlns:a16="http://schemas.microsoft.com/office/drawing/2014/main" id="{7281BA91-55AF-14D0-7CA0-3E0F151A6359}"/>
              </a:ext>
            </a:extLst>
          </p:cNvPr>
          <p:cNvSpPr txBox="1"/>
          <p:nvPr/>
        </p:nvSpPr>
        <p:spPr>
          <a:xfrm>
            <a:off x="1148218" y="1691013"/>
            <a:ext cx="466594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err="1">
                <a:ea typeface="+mn-lt"/>
                <a:cs typeface="+mn-lt"/>
              </a:rPr>
              <a:t>This</a:t>
            </a:r>
            <a:r>
              <a:rPr lang="hu-HU">
                <a:ea typeface="+mn-lt"/>
                <a:cs typeface="+mn-lt"/>
              </a:rPr>
              <a:t> </a:t>
            </a:r>
            <a:r>
              <a:rPr lang="hu-HU" err="1">
                <a:ea typeface="+mn-lt"/>
                <a:cs typeface="+mn-lt"/>
              </a:rPr>
              <a:t>code</a:t>
            </a:r>
            <a:r>
              <a:rPr lang="hu-HU">
                <a:ea typeface="+mn-lt"/>
                <a:cs typeface="+mn-lt"/>
              </a:rPr>
              <a:t> </a:t>
            </a:r>
            <a:r>
              <a:rPr lang="hu-HU" err="1">
                <a:ea typeface="+mn-lt"/>
                <a:cs typeface="+mn-lt"/>
              </a:rPr>
              <a:t>snippet</a:t>
            </a:r>
            <a:r>
              <a:rPr lang="hu-HU">
                <a:ea typeface="+mn-lt"/>
                <a:cs typeface="+mn-lt"/>
              </a:rPr>
              <a:t> uploads files (images, documents) to the</a:t>
            </a:r>
            <a:endParaRPr lang="hu-HU"/>
          </a:p>
          <a:p>
            <a:r>
              <a:rPr lang="hu-HU">
                <a:ea typeface="+mn-lt"/>
                <a:cs typeface="+mn-lt"/>
              </a:rPr>
              <a:t>server.</a:t>
            </a:r>
            <a:endParaRPr lang="hu-HU"/>
          </a:p>
          <a:p>
            <a:endParaRPr lang="hu-HU"/>
          </a:p>
          <a:p>
            <a:r>
              <a:rPr lang="hu-HU" err="1">
                <a:ea typeface="+mn-lt"/>
                <a:cs typeface="+mn-lt"/>
              </a:rPr>
              <a:t>It</a:t>
            </a:r>
            <a:r>
              <a:rPr lang="hu-HU">
                <a:ea typeface="+mn-lt"/>
                <a:cs typeface="+mn-lt"/>
              </a:rPr>
              <a:t> </a:t>
            </a:r>
            <a:r>
              <a:rPr lang="hu-HU" err="1">
                <a:ea typeface="+mn-lt"/>
                <a:cs typeface="+mn-lt"/>
              </a:rPr>
              <a:t>determines</a:t>
            </a:r>
            <a:r>
              <a:rPr lang="hu-HU">
                <a:ea typeface="+mn-lt"/>
                <a:cs typeface="+mn-lt"/>
              </a:rPr>
              <a:t> </a:t>
            </a:r>
            <a:r>
              <a:rPr lang="hu-HU" err="1">
                <a:ea typeface="+mn-lt"/>
                <a:cs typeface="+mn-lt"/>
              </a:rPr>
              <a:t>where</a:t>
            </a:r>
            <a:r>
              <a:rPr lang="hu-HU">
                <a:ea typeface="+mn-lt"/>
                <a:cs typeface="+mn-lt"/>
              </a:rPr>
              <a:t> and under what name the uploaded files will be stored,</a:t>
            </a:r>
            <a:endParaRPr lang="hu-HU"/>
          </a:p>
          <a:p>
            <a:r>
              <a:rPr lang="hu-HU" err="1">
                <a:ea typeface="+mn-lt"/>
                <a:cs typeface="+mn-lt"/>
              </a:rPr>
              <a:t>sets</a:t>
            </a:r>
            <a:r>
              <a:rPr lang="hu-HU">
                <a:ea typeface="+mn-lt"/>
                <a:cs typeface="+mn-lt"/>
              </a:rPr>
              <a:t> a </a:t>
            </a:r>
            <a:r>
              <a:rPr lang="hu-HU" err="1">
                <a:ea typeface="+mn-lt"/>
                <a:cs typeface="+mn-lt"/>
              </a:rPr>
              <a:t>unique</a:t>
            </a:r>
            <a:r>
              <a:rPr lang="hu-HU">
                <a:ea typeface="+mn-lt"/>
                <a:cs typeface="+mn-lt"/>
              </a:rPr>
              <a:t> name for the files, and then creates a multer</a:t>
            </a:r>
            <a:endParaRPr lang="hu-HU"/>
          </a:p>
          <a:p>
            <a:r>
              <a:rPr lang="hu-HU" dirty="0" err="1">
                <a:ea typeface="+mn-lt"/>
                <a:cs typeface="+mn-lt"/>
              </a:rPr>
              <a:t>object</a:t>
            </a:r>
            <a:r>
              <a:rPr lang="hu-HU" dirty="0">
                <a:ea typeface="+mn-lt"/>
                <a:cs typeface="+mn-lt"/>
              </a:rPr>
              <a:t>, </a:t>
            </a:r>
            <a:r>
              <a:rPr lang="hu-HU" dirty="0" err="1">
                <a:ea typeface="+mn-lt"/>
                <a:cs typeface="+mn-lt"/>
              </a:rPr>
              <a:t>which</a:t>
            </a:r>
            <a:r>
              <a:rPr lang="hu-HU" dirty="0">
                <a:ea typeface="+mn-lt"/>
                <a:cs typeface="+mn-lt"/>
              </a:rPr>
              <a:t> </a:t>
            </a:r>
            <a:r>
              <a:rPr lang="hu-HU" dirty="0" err="1">
                <a:ea typeface="+mn-lt"/>
                <a:cs typeface="+mn-lt"/>
              </a:rPr>
              <a:t>will</a:t>
            </a:r>
            <a:r>
              <a:rPr lang="hu-HU" dirty="0">
                <a:ea typeface="+mn-lt"/>
                <a:cs typeface="+mn-lt"/>
              </a:rPr>
              <a:t> be </a:t>
            </a:r>
            <a:r>
              <a:rPr lang="hu-HU" dirty="0" err="1">
                <a:ea typeface="+mn-lt"/>
                <a:cs typeface="+mn-lt"/>
              </a:rPr>
              <a:t>the</a:t>
            </a:r>
            <a:r>
              <a:rPr lang="hu-HU" dirty="0">
                <a:ea typeface="+mn-lt"/>
                <a:cs typeface="+mn-lt"/>
              </a:rPr>
              <a:t> </a:t>
            </a:r>
            <a:r>
              <a:rPr lang="hu-HU" dirty="0" err="1">
                <a:ea typeface="+mn-lt"/>
                <a:cs typeface="+mn-lt"/>
              </a:rPr>
              <a:t>middleware</a:t>
            </a:r>
            <a:r>
              <a:rPr lang="hu-HU" dirty="0">
                <a:ea typeface="+mn-lt"/>
                <a:cs typeface="+mn-lt"/>
              </a:rPr>
              <a:t> </a:t>
            </a:r>
            <a:r>
              <a:rPr lang="hu-HU" dirty="0" err="1">
                <a:ea typeface="+mn-lt"/>
                <a:cs typeface="+mn-lt"/>
              </a:rPr>
              <a:t>responsible</a:t>
            </a:r>
            <a:r>
              <a:rPr lang="hu-HU" dirty="0">
                <a:ea typeface="+mn-lt"/>
                <a:cs typeface="+mn-lt"/>
              </a:rPr>
              <a:t> </a:t>
            </a:r>
            <a:r>
              <a:rPr lang="hu-HU" dirty="0" err="1">
                <a:ea typeface="+mn-lt"/>
                <a:cs typeface="+mn-lt"/>
              </a:rPr>
              <a:t>for</a:t>
            </a:r>
            <a:r>
              <a:rPr lang="hu-HU" dirty="0">
                <a:ea typeface="+mn-lt"/>
                <a:cs typeface="+mn-lt"/>
              </a:rPr>
              <a:t> </a:t>
            </a:r>
            <a:r>
              <a:rPr lang="hu-HU" dirty="0" err="1">
                <a:ea typeface="+mn-lt"/>
                <a:cs typeface="+mn-lt"/>
              </a:rPr>
              <a:t>uploading</a:t>
            </a:r>
            <a:r>
              <a:rPr lang="hu-HU" dirty="0">
                <a:ea typeface="+mn-lt"/>
                <a:cs typeface="+mn-lt"/>
              </a:rPr>
              <a:t> </a:t>
            </a:r>
            <a:r>
              <a:rPr lang="hu-HU" dirty="0" err="1">
                <a:ea typeface="+mn-lt"/>
                <a:cs typeface="+mn-lt"/>
              </a:rPr>
              <a:t>the</a:t>
            </a:r>
            <a:r>
              <a:rPr lang="hu-HU" dirty="0">
                <a:ea typeface="+mn-lt"/>
                <a:cs typeface="+mn-lt"/>
              </a:rPr>
              <a:t> file.</a:t>
            </a:r>
            <a:endParaRPr lang="hu-HU" dirty="0"/>
          </a:p>
        </p:txBody>
      </p:sp>
      <p:pic>
        <p:nvPicPr>
          <p:cNvPr id="3" name="Kép 2"/>
          <p:cNvPicPr>
            <a:picLocks noChangeAspect="1"/>
          </p:cNvPicPr>
          <p:nvPr/>
        </p:nvPicPr>
        <p:blipFill>
          <a:blip r:embed="rId2"/>
          <a:stretch>
            <a:fillRect/>
          </a:stretch>
        </p:blipFill>
        <p:spPr>
          <a:xfrm>
            <a:off x="5965165" y="2124591"/>
            <a:ext cx="5703921" cy="1712037"/>
          </a:xfrm>
          <a:prstGeom prst="rect">
            <a:avLst/>
          </a:prstGeom>
        </p:spPr>
      </p:pic>
      <p:sp>
        <p:nvSpPr>
          <p:cNvPr id="5" name="Tartalom helye 4"/>
          <p:cNvSpPr>
            <a:spLocks noGrp="1"/>
          </p:cNvSpPr>
          <p:nvPr>
            <p:ph idx="1"/>
          </p:nvPr>
        </p:nvSpPr>
        <p:spPr/>
        <p:txBody>
          <a:bodyPr/>
          <a:lstStyle/>
          <a:p>
            <a:endParaRPr lang="hu-HU" dirty="0"/>
          </a:p>
        </p:txBody>
      </p:sp>
    </p:spTree>
    <p:extLst>
      <p:ext uri="{BB962C8B-B14F-4D97-AF65-F5344CB8AC3E}">
        <p14:creationId xmlns:p14="http://schemas.microsoft.com/office/powerpoint/2010/main" val="3871606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BAB2A0C-4017-42FE-AE9D-0760C6828BCF}"/>
              </a:ext>
            </a:extLst>
          </p:cNvPr>
          <p:cNvSpPr>
            <a:spLocks noGrp="1"/>
          </p:cNvSpPr>
          <p:nvPr>
            <p:ph type="title"/>
          </p:nvPr>
        </p:nvSpPr>
        <p:spPr/>
        <p:txBody>
          <a:bodyPr/>
          <a:lstStyle/>
          <a:p>
            <a:r>
              <a:rPr lang="hu-HU" dirty="0" err="1">
                <a:ea typeface="+mj-lt"/>
                <a:cs typeface="+mj-lt"/>
              </a:rPr>
              <a:t>Student</a:t>
            </a:r>
            <a:r>
              <a:rPr lang="hu-HU" dirty="0">
                <a:ea typeface="+mj-lt"/>
                <a:cs typeface="+mj-lt"/>
              </a:rPr>
              <a:t> </a:t>
            </a:r>
            <a:r>
              <a:rPr lang="hu-HU" dirty="0" err="1">
                <a:ea typeface="+mj-lt"/>
                <a:cs typeface="+mj-lt"/>
              </a:rPr>
              <a:t>application</a:t>
            </a:r>
            <a:endParaRPr lang="hu-HU" dirty="0" err="1"/>
          </a:p>
        </p:txBody>
      </p:sp>
      <p:sp>
        <p:nvSpPr>
          <p:cNvPr id="8" name="Szövegdoboz 7">
            <a:extLst>
              <a:ext uri="{FF2B5EF4-FFF2-40B4-BE49-F238E27FC236}">
                <a16:creationId xmlns:a16="http://schemas.microsoft.com/office/drawing/2014/main" id="{AACCFB00-982A-76CC-53E5-EFEDE84B38D7}"/>
              </a:ext>
            </a:extLst>
          </p:cNvPr>
          <p:cNvSpPr txBox="1"/>
          <p:nvPr/>
        </p:nvSpPr>
        <p:spPr>
          <a:xfrm>
            <a:off x="881050" y="2158889"/>
            <a:ext cx="521917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err="1">
                <a:ea typeface="+mn-lt"/>
                <a:cs typeface="+mn-lt"/>
              </a:rPr>
              <a:t>First</a:t>
            </a:r>
            <a:r>
              <a:rPr lang="hu-HU">
                <a:ea typeface="+mn-lt"/>
                <a:cs typeface="+mn-lt"/>
              </a:rPr>
              <a:t>, </a:t>
            </a:r>
            <a:r>
              <a:rPr lang="hu-HU" err="1">
                <a:ea typeface="+mn-lt"/>
                <a:cs typeface="+mn-lt"/>
              </a:rPr>
              <a:t>we</a:t>
            </a:r>
            <a:r>
              <a:rPr lang="hu-HU">
                <a:ea typeface="+mn-lt"/>
                <a:cs typeface="+mn-lt"/>
              </a:rPr>
              <a:t> </a:t>
            </a:r>
            <a:r>
              <a:rPr lang="hu-HU" err="1">
                <a:ea typeface="+mn-lt"/>
                <a:cs typeface="+mn-lt"/>
              </a:rPr>
              <a:t>check</a:t>
            </a:r>
            <a:r>
              <a:rPr lang="hu-HU">
                <a:ea typeface="+mn-lt"/>
                <a:cs typeface="+mn-lt"/>
              </a:rPr>
              <a:t> whether all the data is there and whether the user exists. If everything is OK, we check whether the application has been received by the teacher who applied. If so, we save it in a table called Request and its status becomes pending.</a:t>
            </a:r>
            <a:endParaRPr lang="hu-HU"/>
          </a:p>
          <a:p>
            <a:endParaRPr lang="hu-HU"/>
          </a:p>
          <a:p>
            <a:r>
              <a:rPr lang="hu-HU" dirty="0" err="1">
                <a:ea typeface="+mn-lt"/>
                <a:cs typeface="+mn-lt"/>
              </a:rPr>
              <a:t>There</a:t>
            </a:r>
            <a:r>
              <a:rPr lang="hu-HU" dirty="0">
                <a:ea typeface="+mn-lt"/>
                <a:cs typeface="+mn-lt"/>
              </a:rPr>
              <a:t> </a:t>
            </a:r>
            <a:r>
              <a:rPr lang="hu-HU" dirty="0" err="1">
                <a:ea typeface="+mn-lt"/>
                <a:cs typeface="+mn-lt"/>
              </a:rPr>
              <a:t>are</a:t>
            </a:r>
            <a:r>
              <a:rPr lang="hu-HU" dirty="0">
                <a:ea typeface="+mn-lt"/>
                <a:cs typeface="+mn-lt"/>
              </a:rPr>
              <a:t> </a:t>
            </a:r>
            <a:r>
              <a:rPr lang="hu-HU" dirty="0" err="1">
                <a:ea typeface="+mn-lt"/>
                <a:cs typeface="+mn-lt"/>
              </a:rPr>
              <a:t>two</a:t>
            </a:r>
            <a:r>
              <a:rPr lang="hu-HU" dirty="0">
                <a:ea typeface="+mn-lt"/>
                <a:cs typeface="+mn-lt"/>
              </a:rPr>
              <a:t> </a:t>
            </a:r>
            <a:r>
              <a:rPr lang="hu-HU" dirty="0" err="1">
                <a:ea typeface="+mn-lt"/>
                <a:cs typeface="+mn-lt"/>
              </a:rPr>
              <a:t>buttons</a:t>
            </a:r>
            <a:r>
              <a:rPr lang="hu-HU" dirty="0">
                <a:ea typeface="+mn-lt"/>
                <a:cs typeface="+mn-lt"/>
              </a:rPr>
              <a:t> </a:t>
            </a:r>
            <a:r>
              <a:rPr lang="hu-HU" dirty="0" err="1">
                <a:ea typeface="+mn-lt"/>
                <a:cs typeface="+mn-lt"/>
              </a:rPr>
              <a:t>on</a:t>
            </a:r>
            <a:r>
              <a:rPr lang="hu-HU" dirty="0">
                <a:ea typeface="+mn-lt"/>
                <a:cs typeface="+mn-lt"/>
              </a:rPr>
              <a:t> </a:t>
            </a:r>
            <a:r>
              <a:rPr lang="hu-HU" dirty="0" err="1">
                <a:ea typeface="+mn-lt"/>
                <a:cs typeface="+mn-lt"/>
              </a:rPr>
              <a:t>the</a:t>
            </a:r>
            <a:r>
              <a:rPr lang="hu-HU" dirty="0">
                <a:ea typeface="+mn-lt"/>
                <a:cs typeface="+mn-lt"/>
              </a:rPr>
              <a:t> front end: </a:t>
            </a:r>
            <a:r>
              <a:rPr lang="hu-HU" dirty="0" err="1">
                <a:ea typeface="+mn-lt"/>
                <a:cs typeface="+mn-lt"/>
              </a:rPr>
              <a:t>accept</a:t>
            </a:r>
            <a:r>
              <a:rPr lang="hu-HU" dirty="0">
                <a:ea typeface="+mn-lt"/>
                <a:cs typeface="+mn-lt"/>
              </a:rPr>
              <a:t> and </a:t>
            </a:r>
            <a:r>
              <a:rPr lang="hu-HU" dirty="0" err="1">
                <a:ea typeface="+mn-lt"/>
                <a:cs typeface="+mn-lt"/>
              </a:rPr>
              <a:t>decline</a:t>
            </a:r>
            <a:r>
              <a:rPr lang="hu-HU" dirty="0">
                <a:ea typeface="+mn-lt"/>
                <a:cs typeface="+mn-lt"/>
              </a:rPr>
              <a:t>. </a:t>
            </a:r>
            <a:r>
              <a:rPr lang="hu-HU" dirty="0" err="1">
                <a:ea typeface="+mn-lt"/>
                <a:cs typeface="+mn-lt"/>
              </a:rPr>
              <a:t>If</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teacher</a:t>
            </a:r>
            <a:r>
              <a:rPr lang="hu-HU" dirty="0">
                <a:ea typeface="+mn-lt"/>
                <a:cs typeface="+mn-lt"/>
              </a:rPr>
              <a:t> </a:t>
            </a:r>
            <a:r>
              <a:rPr lang="hu-HU" dirty="0" err="1">
                <a:ea typeface="+mn-lt"/>
                <a:cs typeface="+mn-lt"/>
              </a:rPr>
              <a:t>accepts</a:t>
            </a:r>
            <a:r>
              <a:rPr lang="hu-HU" dirty="0">
                <a:ea typeface="+mn-lt"/>
                <a:cs typeface="+mn-lt"/>
              </a:rPr>
              <a:t>, </a:t>
            </a:r>
            <a:r>
              <a:rPr lang="hu-HU" dirty="0" err="1">
                <a:ea typeface="+mn-lt"/>
                <a:cs typeface="+mn-lt"/>
              </a:rPr>
              <a:t>the</a:t>
            </a:r>
            <a:r>
              <a:rPr lang="hu-HU" dirty="0">
                <a:ea typeface="+mn-lt"/>
                <a:cs typeface="+mn-lt"/>
              </a:rPr>
              <a:t> status in </a:t>
            </a:r>
            <a:r>
              <a:rPr lang="hu-HU" dirty="0" err="1">
                <a:ea typeface="+mn-lt"/>
                <a:cs typeface="+mn-lt"/>
              </a:rPr>
              <a:t>the</a:t>
            </a:r>
            <a:r>
              <a:rPr lang="hu-HU" dirty="0">
                <a:ea typeface="+mn-lt"/>
                <a:cs typeface="+mn-lt"/>
              </a:rPr>
              <a:t> </a:t>
            </a:r>
            <a:r>
              <a:rPr lang="hu-HU" dirty="0" err="1">
                <a:ea typeface="+mn-lt"/>
                <a:cs typeface="+mn-lt"/>
              </a:rPr>
              <a:t>database</a:t>
            </a:r>
            <a:r>
              <a:rPr lang="hu-HU" dirty="0">
                <a:ea typeface="+mn-lt"/>
                <a:cs typeface="+mn-lt"/>
              </a:rPr>
              <a:t> </a:t>
            </a:r>
            <a:r>
              <a:rPr lang="hu-HU" dirty="0" err="1">
                <a:ea typeface="+mn-lt"/>
                <a:cs typeface="+mn-lt"/>
              </a:rPr>
              <a:t>changes</a:t>
            </a:r>
            <a:r>
              <a:rPr lang="hu-HU" dirty="0">
                <a:ea typeface="+mn-lt"/>
                <a:cs typeface="+mn-lt"/>
              </a:rPr>
              <a:t> </a:t>
            </a:r>
            <a:r>
              <a:rPr lang="hu-HU" dirty="0" err="1">
                <a:ea typeface="+mn-lt"/>
                <a:cs typeface="+mn-lt"/>
              </a:rPr>
              <a:t>to</a:t>
            </a:r>
            <a:r>
              <a:rPr lang="hu-HU" dirty="0">
                <a:ea typeface="+mn-lt"/>
                <a:cs typeface="+mn-lt"/>
              </a:rPr>
              <a:t> </a:t>
            </a:r>
            <a:r>
              <a:rPr lang="hu-HU" dirty="0" err="1">
                <a:ea typeface="+mn-lt"/>
                <a:cs typeface="+mn-lt"/>
              </a:rPr>
              <a:t>accepted</a:t>
            </a:r>
            <a:r>
              <a:rPr lang="hu-HU" dirty="0">
                <a:ea typeface="+mn-lt"/>
                <a:cs typeface="+mn-lt"/>
              </a:rPr>
              <a:t>; </a:t>
            </a:r>
            <a:r>
              <a:rPr lang="hu-HU" dirty="0" err="1">
                <a:ea typeface="+mn-lt"/>
                <a:cs typeface="+mn-lt"/>
              </a:rPr>
              <a:t>if</a:t>
            </a:r>
            <a:r>
              <a:rPr lang="hu-HU" dirty="0">
                <a:ea typeface="+mn-lt"/>
                <a:cs typeface="+mn-lt"/>
              </a:rPr>
              <a:t> </a:t>
            </a:r>
            <a:r>
              <a:rPr lang="hu-HU" dirty="0" err="1">
                <a:ea typeface="+mn-lt"/>
                <a:cs typeface="+mn-lt"/>
              </a:rPr>
              <a:t>they</a:t>
            </a:r>
            <a:r>
              <a:rPr lang="hu-HU" dirty="0">
                <a:ea typeface="+mn-lt"/>
                <a:cs typeface="+mn-lt"/>
              </a:rPr>
              <a:t> </a:t>
            </a:r>
            <a:r>
              <a:rPr lang="hu-HU" dirty="0" err="1">
                <a:ea typeface="+mn-lt"/>
                <a:cs typeface="+mn-lt"/>
              </a:rPr>
              <a:t>decline</a:t>
            </a:r>
            <a:r>
              <a:rPr lang="hu-HU" dirty="0">
                <a:ea typeface="+mn-lt"/>
                <a:cs typeface="+mn-lt"/>
              </a:rPr>
              <a:t>, </a:t>
            </a:r>
            <a:r>
              <a:rPr lang="hu-HU" dirty="0" err="1">
                <a:ea typeface="+mn-lt"/>
                <a:cs typeface="+mn-lt"/>
              </a:rPr>
              <a:t>it</a:t>
            </a:r>
            <a:r>
              <a:rPr lang="hu-HU" dirty="0">
                <a:ea typeface="+mn-lt"/>
                <a:cs typeface="+mn-lt"/>
              </a:rPr>
              <a:t> </a:t>
            </a:r>
            <a:r>
              <a:rPr lang="hu-HU" dirty="0" err="1">
                <a:ea typeface="+mn-lt"/>
                <a:cs typeface="+mn-lt"/>
              </a:rPr>
              <a:t>changes</a:t>
            </a:r>
            <a:r>
              <a:rPr lang="hu-HU" dirty="0">
                <a:ea typeface="+mn-lt"/>
                <a:cs typeface="+mn-lt"/>
              </a:rPr>
              <a:t> </a:t>
            </a:r>
            <a:r>
              <a:rPr lang="hu-HU" dirty="0" err="1">
                <a:ea typeface="+mn-lt"/>
                <a:cs typeface="+mn-lt"/>
              </a:rPr>
              <a:t>to</a:t>
            </a:r>
            <a:r>
              <a:rPr lang="hu-HU" dirty="0">
                <a:ea typeface="+mn-lt"/>
                <a:cs typeface="+mn-lt"/>
              </a:rPr>
              <a:t> </a:t>
            </a:r>
            <a:r>
              <a:rPr lang="hu-HU" dirty="0" err="1">
                <a:ea typeface="+mn-lt"/>
                <a:cs typeface="+mn-lt"/>
              </a:rPr>
              <a:t>rejected</a:t>
            </a:r>
            <a:r>
              <a:rPr lang="hu-HU" dirty="0">
                <a:ea typeface="+mn-lt"/>
                <a:cs typeface="+mn-lt"/>
              </a:rPr>
              <a:t>.</a:t>
            </a:r>
            <a:endParaRPr lang="hu-HU" dirty="0"/>
          </a:p>
        </p:txBody>
      </p:sp>
      <p:pic>
        <p:nvPicPr>
          <p:cNvPr id="3" name="Kép 2"/>
          <p:cNvPicPr>
            <a:picLocks noChangeAspect="1"/>
          </p:cNvPicPr>
          <p:nvPr/>
        </p:nvPicPr>
        <p:blipFill>
          <a:blip r:embed="rId2"/>
          <a:stretch>
            <a:fillRect/>
          </a:stretch>
        </p:blipFill>
        <p:spPr>
          <a:xfrm>
            <a:off x="7407275" y="123913"/>
            <a:ext cx="4618372" cy="3458670"/>
          </a:xfrm>
          <a:prstGeom prst="rect">
            <a:avLst/>
          </a:prstGeom>
        </p:spPr>
      </p:pic>
      <p:sp>
        <p:nvSpPr>
          <p:cNvPr id="7" name="Tartalom helye 6"/>
          <p:cNvSpPr>
            <a:spLocks noGrp="1"/>
          </p:cNvSpPr>
          <p:nvPr>
            <p:ph idx="1"/>
          </p:nvPr>
        </p:nvSpPr>
        <p:spPr/>
        <p:txBody>
          <a:bodyPr/>
          <a:lstStyle/>
          <a:p>
            <a:endParaRPr lang="hu-HU" dirty="0"/>
          </a:p>
        </p:txBody>
      </p:sp>
      <p:pic>
        <p:nvPicPr>
          <p:cNvPr id="9" name="Kép 8"/>
          <p:cNvPicPr>
            <a:picLocks noChangeAspect="1"/>
          </p:cNvPicPr>
          <p:nvPr/>
        </p:nvPicPr>
        <p:blipFill>
          <a:blip r:embed="rId3"/>
          <a:stretch>
            <a:fillRect/>
          </a:stretch>
        </p:blipFill>
        <p:spPr>
          <a:xfrm>
            <a:off x="6929444" y="3690920"/>
            <a:ext cx="5096203" cy="3066412"/>
          </a:xfrm>
          <a:prstGeom prst="rect">
            <a:avLst/>
          </a:prstGeom>
        </p:spPr>
      </p:pic>
    </p:spTree>
    <p:extLst>
      <p:ext uri="{BB962C8B-B14F-4D97-AF65-F5344CB8AC3E}">
        <p14:creationId xmlns:p14="http://schemas.microsoft.com/office/powerpoint/2010/main" val="1563385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7445637-30DA-DB2D-5CDA-1BD6E1BCDF0C}"/>
              </a:ext>
            </a:extLst>
          </p:cNvPr>
          <p:cNvSpPr>
            <a:spLocks noGrp="1"/>
          </p:cNvSpPr>
          <p:nvPr>
            <p:ph type="title"/>
          </p:nvPr>
        </p:nvSpPr>
        <p:spPr/>
        <p:txBody>
          <a:bodyPr/>
          <a:lstStyle/>
          <a:p>
            <a:r>
              <a:rPr lang="hu-HU" dirty="0" err="1"/>
              <a:t>Purchase</a:t>
            </a:r>
          </a:p>
        </p:txBody>
      </p:sp>
      <p:sp>
        <p:nvSpPr>
          <p:cNvPr id="5" name="Szövegdoboz 4">
            <a:extLst>
              <a:ext uri="{FF2B5EF4-FFF2-40B4-BE49-F238E27FC236}">
                <a16:creationId xmlns:a16="http://schemas.microsoft.com/office/drawing/2014/main" id="{67A2D126-DC9C-A46F-0E11-AC3B319FF7E1}"/>
              </a:ext>
            </a:extLst>
          </p:cNvPr>
          <p:cNvSpPr txBox="1"/>
          <p:nvPr/>
        </p:nvSpPr>
        <p:spPr>
          <a:xfrm>
            <a:off x="782877" y="1847588"/>
            <a:ext cx="456777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dirty="0" err="1">
                <a:ea typeface="+mn-lt"/>
                <a:cs typeface="+mn-lt"/>
              </a:rPr>
              <a:t>First</a:t>
            </a:r>
            <a:r>
              <a:rPr lang="hu-HU" dirty="0">
                <a:ea typeface="+mn-lt"/>
                <a:cs typeface="+mn-lt"/>
              </a:rPr>
              <a:t>, </a:t>
            </a:r>
            <a:r>
              <a:rPr lang="hu-HU" dirty="0" err="1">
                <a:ea typeface="+mn-lt"/>
                <a:cs typeface="+mn-lt"/>
              </a:rPr>
              <a:t>we</a:t>
            </a:r>
            <a:r>
              <a:rPr lang="hu-HU" dirty="0">
                <a:ea typeface="+mn-lt"/>
                <a:cs typeface="+mn-lt"/>
              </a:rPr>
              <a:t> </a:t>
            </a:r>
            <a:r>
              <a:rPr lang="hu-HU" dirty="0" err="1">
                <a:ea typeface="+mn-lt"/>
                <a:cs typeface="+mn-lt"/>
              </a:rPr>
              <a:t>check</a:t>
            </a:r>
            <a:r>
              <a:rPr lang="hu-HU" dirty="0">
                <a:ea typeface="+mn-lt"/>
                <a:cs typeface="+mn-lt"/>
              </a:rPr>
              <a:t> </a:t>
            </a:r>
            <a:r>
              <a:rPr lang="hu-HU" dirty="0" err="1">
                <a:ea typeface="+mn-lt"/>
                <a:cs typeface="+mn-lt"/>
              </a:rPr>
              <a:t>whether</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user</a:t>
            </a:r>
            <a:r>
              <a:rPr lang="hu-HU" dirty="0">
                <a:ea typeface="+mn-lt"/>
                <a:cs typeface="+mn-lt"/>
              </a:rPr>
              <a:t> </a:t>
            </a:r>
            <a:r>
              <a:rPr lang="hu-HU" dirty="0" err="1">
                <a:ea typeface="+mn-lt"/>
                <a:cs typeface="+mn-lt"/>
              </a:rPr>
              <a:t>exists</a:t>
            </a:r>
            <a:r>
              <a:rPr lang="hu-HU" dirty="0">
                <a:ea typeface="+mn-lt"/>
                <a:cs typeface="+mn-lt"/>
              </a:rPr>
              <a:t>.</a:t>
            </a:r>
          </a:p>
          <a:p>
            <a:endParaRPr lang="hu-HU"/>
          </a:p>
          <a:p>
            <a:r>
              <a:rPr lang="hu-HU" dirty="0" err="1">
                <a:ea typeface="+mn-lt"/>
                <a:cs typeface="+mn-lt"/>
              </a:rPr>
              <a:t>If</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student</a:t>
            </a:r>
            <a:r>
              <a:rPr lang="hu-HU" dirty="0">
                <a:ea typeface="+mn-lt"/>
                <a:cs typeface="+mn-lt"/>
              </a:rPr>
              <a:t> has </a:t>
            </a:r>
            <a:r>
              <a:rPr lang="hu-HU" dirty="0" err="1">
                <a:ea typeface="+mn-lt"/>
                <a:cs typeface="+mn-lt"/>
              </a:rPr>
              <a:t>failed</a:t>
            </a:r>
            <a:r>
              <a:rPr lang="hu-HU" dirty="0">
                <a:ea typeface="+mn-lt"/>
                <a:cs typeface="+mn-lt"/>
              </a:rPr>
              <a:t> </a:t>
            </a:r>
            <a:r>
              <a:rPr lang="hu-HU" dirty="0" err="1">
                <a:ea typeface="+mn-lt"/>
                <a:cs typeface="+mn-lt"/>
              </a:rPr>
              <a:t>their</a:t>
            </a:r>
            <a:r>
              <a:rPr lang="hu-HU" dirty="0">
                <a:ea typeface="+mn-lt"/>
                <a:cs typeface="+mn-lt"/>
              </a:rPr>
              <a:t> </a:t>
            </a:r>
            <a:r>
              <a:rPr lang="hu-HU" dirty="0" err="1">
                <a:ea typeface="+mn-lt"/>
                <a:cs typeface="+mn-lt"/>
              </a:rPr>
              <a:t>exam</a:t>
            </a:r>
            <a:r>
              <a:rPr lang="hu-HU" dirty="0">
                <a:ea typeface="+mn-lt"/>
                <a:cs typeface="+mn-lt"/>
              </a:rPr>
              <a:t>, </a:t>
            </a:r>
            <a:r>
              <a:rPr lang="hu-HU" dirty="0" err="1">
                <a:ea typeface="+mn-lt"/>
                <a:cs typeface="+mn-lt"/>
              </a:rPr>
              <a:t>only</a:t>
            </a:r>
            <a:r>
              <a:rPr lang="hu-HU" dirty="0">
                <a:ea typeface="+mn-lt"/>
                <a:cs typeface="+mn-lt"/>
              </a:rPr>
              <a:t> </a:t>
            </a:r>
            <a:r>
              <a:rPr lang="hu-HU" dirty="0" err="1">
                <a:ea typeface="+mn-lt"/>
                <a:cs typeface="+mn-lt"/>
              </a:rPr>
              <a:t>then</a:t>
            </a:r>
            <a:r>
              <a:rPr lang="hu-HU" dirty="0">
                <a:ea typeface="+mn-lt"/>
                <a:cs typeface="+mn-lt"/>
              </a:rPr>
              <a:t> </a:t>
            </a:r>
            <a:r>
              <a:rPr lang="hu-HU" dirty="0" err="1">
                <a:ea typeface="+mn-lt"/>
                <a:cs typeface="+mn-lt"/>
              </a:rPr>
              <a:t>can</a:t>
            </a:r>
            <a:r>
              <a:rPr lang="hu-HU" dirty="0">
                <a:ea typeface="+mn-lt"/>
                <a:cs typeface="+mn-lt"/>
              </a:rPr>
              <a:t> </a:t>
            </a:r>
            <a:r>
              <a:rPr lang="hu-HU" dirty="0" err="1">
                <a:ea typeface="+mn-lt"/>
                <a:cs typeface="+mn-lt"/>
              </a:rPr>
              <a:t>they</a:t>
            </a:r>
            <a:r>
              <a:rPr lang="hu-HU" dirty="0">
                <a:ea typeface="+mn-lt"/>
                <a:cs typeface="+mn-lt"/>
              </a:rPr>
              <a:t> </a:t>
            </a:r>
            <a:r>
              <a:rPr lang="hu-HU" dirty="0" err="1">
                <a:ea typeface="+mn-lt"/>
                <a:cs typeface="+mn-lt"/>
              </a:rPr>
              <a:t>take</a:t>
            </a:r>
            <a:r>
              <a:rPr lang="hu-HU" dirty="0">
                <a:ea typeface="+mn-lt"/>
                <a:cs typeface="+mn-lt"/>
              </a:rPr>
              <a:t> </a:t>
            </a:r>
            <a:r>
              <a:rPr lang="hu-HU" dirty="0" err="1">
                <a:ea typeface="+mn-lt"/>
                <a:cs typeface="+mn-lt"/>
              </a:rPr>
              <a:t>lessons</a:t>
            </a:r>
            <a:r>
              <a:rPr lang="hu-HU" dirty="0">
                <a:ea typeface="+mn-lt"/>
                <a:cs typeface="+mn-lt"/>
              </a:rPr>
              <a:t> </a:t>
            </a:r>
            <a:r>
              <a:rPr lang="hu-HU" dirty="0" err="1">
                <a:ea typeface="+mn-lt"/>
                <a:cs typeface="+mn-lt"/>
              </a:rPr>
              <a:t>or</a:t>
            </a:r>
            <a:r>
              <a:rPr lang="hu-HU" dirty="0">
                <a:ea typeface="+mn-lt"/>
                <a:cs typeface="+mn-lt"/>
              </a:rPr>
              <a:t> </a:t>
            </a:r>
            <a:r>
              <a:rPr lang="hu-HU" dirty="0" err="1">
                <a:ea typeface="+mn-lt"/>
                <a:cs typeface="+mn-lt"/>
              </a:rPr>
              <a:t>accept</a:t>
            </a:r>
            <a:r>
              <a:rPr lang="hu-HU" dirty="0">
                <a:ea typeface="+mn-lt"/>
                <a:cs typeface="+mn-lt"/>
              </a:rPr>
              <a:t> </a:t>
            </a:r>
            <a:r>
              <a:rPr lang="hu-HU" dirty="0" err="1">
                <a:ea typeface="+mn-lt"/>
                <a:cs typeface="+mn-lt"/>
              </a:rPr>
              <a:t>students</a:t>
            </a:r>
            <a:r>
              <a:rPr lang="hu-HU" dirty="0">
                <a:ea typeface="+mn-lt"/>
                <a:cs typeface="+mn-lt"/>
              </a:rPr>
              <a:t>.</a:t>
            </a:r>
          </a:p>
          <a:p>
            <a:endParaRPr lang="hu-HU"/>
          </a:p>
          <a:p>
            <a:r>
              <a:rPr lang="hu-HU" dirty="0" err="1">
                <a:ea typeface="+mn-lt"/>
                <a:cs typeface="+mn-lt"/>
              </a:rPr>
              <a:t>If</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request</a:t>
            </a:r>
            <a:r>
              <a:rPr lang="hu-HU" dirty="0">
                <a:ea typeface="+mn-lt"/>
                <a:cs typeface="+mn-lt"/>
              </a:rPr>
              <a:t> is </a:t>
            </a:r>
            <a:r>
              <a:rPr lang="hu-HU" dirty="0" err="1">
                <a:ea typeface="+mn-lt"/>
                <a:cs typeface="+mn-lt"/>
              </a:rPr>
              <a:t>successful</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purchased</a:t>
            </a:r>
            <a:r>
              <a:rPr lang="hu-HU" dirty="0">
                <a:ea typeface="+mn-lt"/>
                <a:cs typeface="+mn-lt"/>
              </a:rPr>
              <a:t> </a:t>
            </a:r>
            <a:r>
              <a:rPr lang="hu-HU" dirty="0" err="1">
                <a:ea typeface="+mn-lt"/>
                <a:cs typeface="+mn-lt"/>
              </a:rPr>
              <a:t>item</a:t>
            </a:r>
            <a:r>
              <a:rPr lang="hu-HU" dirty="0">
                <a:ea typeface="+mn-lt"/>
                <a:cs typeface="+mn-lt"/>
              </a:rPr>
              <a:t> is </a:t>
            </a:r>
            <a:r>
              <a:rPr lang="hu-HU" dirty="0" err="1">
                <a:ea typeface="+mn-lt"/>
                <a:cs typeface="+mn-lt"/>
              </a:rPr>
              <a:t>added</a:t>
            </a:r>
            <a:r>
              <a:rPr lang="hu-HU" dirty="0">
                <a:ea typeface="+mn-lt"/>
                <a:cs typeface="+mn-lt"/>
              </a:rPr>
              <a:t> </a:t>
            </a:r>
            <a:r>
              <a:rPr lang="hu-HU" dirty="0" err="1">
                <a:ea typeface="+mn-lt"/>
                <a:cs typeface="+mn-lt"/>
              </a:rPr>
              <a:t>to</a:t>
            </a:r>
            <a:r>
              <a:rPr lang="hu-HU" dirty="0">
                <a:ea typeface="+mn-lt"/>
                <a:cs typeface="+mn-lt"/>
              </a:rPr>
              <a:t> </a:t>
            </a:r>
            <a:r>
              <a:rPr lang="hu-HU" dirty="0" err="1">
                <a:ea typeface="+mn-lt"/>
                <a:cs typeface="+mn-lt"/>
              </a:rPr>
              <a:t>the</a:t>
            </a:r>
            <a:r>
              <a:rPr lang="hu-HU" dirty="0">
                <a:ea typeface="+mn-lt"/>
                <a:cs typeface="+mn-lt"/>
              </a:rPr>
              <a:t> </a:t>
            </a:r>
            <a:r>
              <a:rPr lang="hu-HU" dirty="0" err="1">
                <a:ea typeface="+mn-lt"/>
                <a:cs typeface="+mn-lt"/>
              </a:rPr>
              <a:t>basket</a:t>
            </a:r>
            <a:r>
              <a:rPr lang="hu-HU" dirty="0">
                <a:ea typeface="+mn-lt"/>
                <a:cs typeface="+mn-lt"/>
              </a:rPr>
              <a:t>, </a:t>
            </a:r>
            <a:r>
              <a:rPr lang="hu-HU" dirty="0" err="1">
                <a:ea typeface="+mn-lt"/>
                <a:cs typeface="+mn-lt"/>
              </a:rPr>
              <a:t>where</a:t>
            </a:r>
            <a:r>
              <a:rPr lang="hu-HU" dirty="0">
                <a:ea typeface="+mn-lt"/>
                <a:cs typeface="+mn-lt"/>
              </a:rPr>
              <a:t> </a:t>
            </a:r>
            <a:r>
              <a:rPr lang="hu-HU" dirty="0" err="1">
                <a:ea typeface="+mn-lt"/>
                <a:cs typeface="+mn-lt"/>
              </a:rPr>
              <a:t>you</a:t>
            </a:r>
            <a:r>
              <a:rPr lang="hu-HU" dirty="0">
                <a:ea typeface="+mn-lt"/>
                <a:cs typeface="+mn-lt"/>
              </a:rPr>
              <a:t> </a:t>
            </a:r>
            <a:r>
              <a:rPr lang="hu-HU" dirty="0" err="1">
                <a:ea typeface="+mn-lt"/>
                <a:cs typeface="+mn-lt"/>
              </a:rPr>
              <a:t>can</a:t>
            </a:r>
            <a:r>
              <a:rPr lang="hu-HU" dirty="0">
                <a:ea typeface="+mn-lt"/>
                <a:cs typeface="+mn-lt"/>
              </a:rPr>
              <a:t> </a:t>
            </a:r>
            <a:r>
              <a:rPr lang="hu-HU" dirty="0" err="1">
                <a:ea typeface="+mn-lt"/>
                <a:cs typeface="+mn-lt"/>
              </a:rPr>
              <a:t>continue</a:t>
            </a:r>
            <a:r>
              <a:rPr lang="hu-HU" dirty="0">
                <a:ea typeface="+mn-lt"/>
                <a:cs typeface="+mn-lt"/>
              </a:rPr>
              <a:t> shopping.</a:t>
            </a:r>
          </a:p>
          <a:p>
            <a:endParaRPr lang="hu-HU" dirty="0">
              <a:ea typeface="+mn-lt"/>
              <a:cs typeface="+mn-lt"/>
            </a:endParaRPr>
          </a:p>
          <a:p>
            <a:r>
              <a:rPr lang="hu-HU" dirty="0" err="1">
                <a:ea typeface="+mn-lt"/>
                <a:cs typeface="+mn-lt"/>
              </a:rPr>
              <a:t>If</a:t>
            </a:r>
            <a:r>
              <a:rPr lang="hu-HU" dirty="0">
                <a:ea typeface="+mn-lt"/>
                <a:cs typeface="+mn-lt"/>
              </a:rPr>
              <a:t> </a:t>
            </a:r>
            <a:r>
              <a:rPr lang="hu-HU" dirty="0" err="1">
                <a:ea typeface="+mn-lt"/>
                <a:cs typeface="+mn-lt"/>
              </a:rPr>
              <a:t>something</a:t>
            </a:r>
            <a:r>
              <a:rPr lang="hu-HU" dirty="0">
                <a:ea typeface="+mn-lt"/>
                <a:cs typeface="+mn-lt"/>
              </a:rPr>
              <a:t> is </a:t>
            </a:r>
            <a:r>
              <a:rPr lang="hu-HU" dirty="0" err="1">
                <a:ea typeface="+mn-lt"/>
                <a:cs typeface="+mn-lt"/>
              </a:rPr>
              <a:t>wrong</a:t>
            </a:r>
            <a:r>
              <a:rPr lang="hu-HU" dirty="0">
                <a:ea typeface="+mn-lt"/>
                <a:cs typeface="+mn-lt"/>
              </a:rPr>
              <a:t>, </a:t>
            </a:r>
            <a:r>
              <a:rPr lang="hu-HU" dirty="0" err="1">
                <a:ea typeface="+mn-lt"/>
                <a:cs typeface="+mn-lt"/>
              </a:rPr>
              <a:t>we</a:t>
            </a:r>
            <a:r>
              <a:rPr lang="hu-HU" dirty="0">
                <a:ea typeface="+mn-lt"/>
                <a:cs typeface="+mn-lt"/>
              </a:rPr>
              <a:t> </a:t>
            </a:r>
            <a:r>
              <a:rPr lang="hu-HU" dirty="0" err="1">
                <a:ea typeface="+mn-lt"/>
                <a:cs typeface="+mn-lt"/>
              </a:rPr>
              <a:t>receive</a:t>
            </a:r>
            <a:r>
              <a:rPr lang="hu-HU" dirty="0">
                <a:ea typeface="+mn-lt"/>
                <a:cs typeface="+mn-lt"/>
              </a:rPr>
              <a:t> an </a:t>
            </a:r>
            <a:r>
              <a:rPr lang="hu-HU" dirty="0" err="1">
                <a:ea typeface="+mn-lt"/>
                <a:cs typeface="+mn-lt"/>
              </a:rPr>
              <a:t>error</a:t>
            </a:r>
            <a:r>
              <a:rPr lang="hu-HU" dirty="0">
                <a:ea typeface="+mn-lt"/>
                <a:cs typeface="+mn-lt"/>
              </a:rPr>
              <a:t> </a:t>
            </a:r>
            <a:r>
              <a:rPr lang="hu-HU" dirty="0" err="1">
                <a:ea typeface="+mn-lt"/>
                <a:cs typeface="+mn-lt"/>
              </a:rPr>
              <a:t>code</a:t>
            </a:r>
            <a:r>
              <a:rPr lang="hu-HU" dirty="0">
                <a:ea typeface="+mn-lt"/>
                <a:cs typeface="+mn-lt"/>
              </a:rPr>
              <a:t>.</a:t>
            </a:r>
            <a:endParaRPr lang="hu-HU" dirty="0"/>
          </a:p>
        </p:txBody>
      </p:sp>
      <p:pic>
        <p:nvPicPr>
          <p:cNvPr id="7" name="Kép 6"/>
          <p:cNvPicPr>
            <a:picLocks noChangeAspect="1"/>
          </p:cNvPicPr>
          <p:nvPr/>
        </p:nvPicPr>
        <p:blipFill>
          <a:blip r:embed="rId2"/>
          <a:stretch>
            <a:fillRect/>
          </a:stretch>
        </p:blipFill>
        <p:spPr>
          <a:xfrm>
            <a:off x="5348472" y="1350626"/>
            <a:ext cx="6702296" cy="4976555"/>
          </a:xfrm>
          <a:prstGeom prst="rect">
            <a:avLst/>
          </a:prstGeom>
        </p:spPr>
      </p:pic>
      <p:sp>
        <p:nvSpPr>
          <p:cNvPr id="8" name="Tartalom helye 7"/>
          <p:cNvSpPr>
            <a:spLocks noGrp="1"/>
          </p:cNvSpPr>
          <p:nvPr>
            <p:ph idx="1"/>
          </p:nvPr>
        </p:nvSpPr>
        <p:spPr/>
        <p:txBody>
          <a:bodyPr/>
          <a:lstStyle/>
          <a:p>
            <a:endParaRPr lang="hu-HU"/>
          </a:p>
        </p:txBody>
      </p:sp>
    </p:spTree>
    <p:extLst>
      <p:ext uri="{BB962C8B-B14F-4D97-AF65-F5344CB8AC3E}">
        <p14:creationId xmlns:p14="http://schemas.microsoft.com/office/powerpoint/2010/main" val="1215968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ltLang="hu-HU" dirty="0">
                <a:latin typeface="Arial" panose="020B0604020202020204" pitchFamily="34" charset="0"/>
              </a:rPr>
              <a:t>Login/</a:t>
            </a:r>
            <a:r>
              <a:rPr lang="hu-HU" altLang="hu-HU" dirty="0" err="1">
                <a:latin typeface="Arial" panose="020B0604020202020204" pitchFamily="34" charset="0"/>
              </a:rPr>
              <a:t>Registration</a:t>
            </a:r>
            <a:r>
              <a:rPr lang="hu-HU" altLang="hu-HU" dirty="0">
                <a:latin typeface="Arial" panose="020B0604020202020204" pitchFamily="34" charset="0"/>
              </a:rPr>
              <a:t> </a:t>
            </a:r>
            <a:r>
              <a:rPr lang="hu-HU" altLang="hu-HU" dirty="0" err="1">
                <a:latin typeface="Arial" panose="020B0604020202020204" pitchFamily="34" charset="0"/>
              </a:rPr>
              <a:t>Page</a:t>
            </a:r>
            <a:endParaRPr lang="hu-HU" dirty="0"/>
          </a:p>
        </p:txBody>
      </p:sp>
      <p:sp>
        <p:nvSpPr>
          <p:cNvPr id="3" name="Tartalom helye 2"/>
          <p:cNvSpPr>
            <a:spLocks noGrp="1"/>
          </p:cNvSpPr>
          <p:nvPr>
            <p:ph sz="half" idx="1"/>
          </p:nvPr>
        </p:nvSpPr>
        <p:spPr>
          <a:xfrm>
            <a:off x="646112" y="1524001"/>
            <a:ext cx="4853540" cy="4732338"/>
          </a:xfrm>
        </p:spPr>
        <p:txBody>
          <a:bodyPr>
            <a:normAutofit/>
          </a:bodyPr>
          <a:lstStyle/>
          <a:p>
            <a:r>
              <a:rPr lang="en-US" b="1" dirty="0"/>
              <a:t>Role-Based Registration:</a:t>
            </a:r>
            <a:r>
              <a:rPr lang="en-US" dirty="0"/>
              <a:t> Dynamic </a:t>
            </a:r>
            <a:r>
              <a:rPr lang="hu-HU" dirty="0" err="1"/>
              <a:t>card</a:t>
            </a:r>
            <a:r>
              <a:rPr lang="en-US" dirty="0"/>
              <a:t> that instantly adapts the form based on whether the user is registering as a Student or a Teacher.</a:t>
            </a:r>
            <a:endParaRPr lang="hu-HU" dirty="0"/>
          </a:p>
          <a:p>
            <a:r>
              <a:rPr lang="en-US" b="1" dirty="0"/>
              <a:t>Strict Data Validation:</a:t>
            </a:r>
            <a:r>
              <a:rPr lang="en-US" dirty="0"/>
              <a:t> Built-in front-end checks ensuring high-quality data (11-12 digit phone numbers, restricted to</a:t>
            </a:r>
            <a:r>
              <a:rPr lang="hu-HU" dirty="0"/>
              <a:t> @gmail.com email </a:t>
            </a:r>
            <a:r>
              <a:rPr lang="hu-HU" dirty="0" err="1"/>
              <a:t>addresses</a:t>
            </a:r>
            <a:r>
              <a:rPr lang="hu-HU" dirty="0"/>
              <a:t>).</a:t>
            </a:r>
          </a:p>
          <a:p>
            <a:r>
              <a:rPr lang="en-US" b="1" dirty="0"/>
              <a:t>Modern UI/UX Design:</a:t>
            </a:r>
            <a:r>
              <a:rPr lang="en-US" dirty="0"/>
              <a:t> A responsive, animated split-card layout with a clean green-and-white brand aesthetic that provides a premium user experience.</a:t>
            </a:r>
            <a:endParaRPr lang="hu-HU" dirty="0"/>
          </a:p>
        </p:txBody>
      </p:sp>
      <p:pic>
        <p:nvPicPr>
          <p:cNvPr id="6" name="Tartalom helye 5"/>
          <p:cNvPicPr>
            <a:picLocks noGrp="1" noChangeAspect="1"/>
          </p:cNvPicPr>
          <p:nvPr>
            <p:ph sz="half" idx="2"/>
          </p:nvPr>
        </p:nvPicPr>
        <p:blipFill>
          <a:blip r:embed="rId2"/>
          <a:stretch>
            <a:fillRect/>
          </a:stretch>
        </p:blipFill>
        <p:spPr>
          <a:xfrm>
            <a:off x="7796212" y="2646586"/>
            <a:ext cx="4395788" cy="2702105"/>
          </a:xfrm>
          <a:prstGeom prst="rect">
            <a:avLst/>
          </a:prstGeom>
        </p:spPr>
      </p:pic>
      <p:pic>
        <p:nvPicPr>
          <p:cNvPr id="7" name="Kép 6"/>
          <p:cNvPicPr>
            <a:picLocks noChangeAspect="1"/>
          </p:cNvPicPr>
          <p:nvPr/>
        </p:nvPicPr>
        <p:blipFill>
          <a:blip r:embed="rId3"/>
          <a:stretch>
            <a:fillRect/>
          </a:stretch>
        </p:blipFill>
        <p:spPr>
          <a:xfrm>
            <a:off x="7299027" y="63586"/>
            <a:ext cx="3900088" cy="2533160"/>
          </a:xfrm>
          <a:prstGeom prst="rect">
            <a:avLst/>
          </a:prstGeom>
        </p:spPr>
      </p:pic>
      <p:pic>
        <p:nvPicPr>
          <p:cNvPr id="8" name="Kép 7"/>
          <p:cNvPicPr>
            <a:picLocks noChangeAspect="1"/>
          </p:cNvPicPr>
          <p:nvPr/>
        </p:nvPicPr>
        <p:blipFill>
          <a:blip r:embed="rId4"/>
          <a:stretch>
            <a:fillRect/>
          </a:stretch>
        </p:blipFill>
        <p:spPr>
          <a:xfrm>
            <a:off x="5348472" y="5279427"/>
            <a:ext cx="4996582" cy="1578573"/>
          </a:xfrm>
          <a:prstGeom prst="rect">
            <a:avLst/>
          </a:prstGeom>
        </p:spPr>
      </p:pic>
    </p:spTree>
    <p:extLst>
      <p:ext uri="{BB962C8B-B14F-4D97-AF65-F5344CB8AC3E}">
        <p14:creationId xmlns:p14="http://schemas.microsoft.com/office/powerpoint/2010/main" val="3362626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a:t>Teachers</a:t>
            </a:r>
            <a:r>
              <a:rPr lang="hu-HU" dirty="0"/>
              <a:t> </a:t>
            </a:r>
            <a:r>
              <a:rPr lang="hu-HU" dirty="0" err="1"/>
              <a:t>Page</a:t>
            </a:r>
            <a:endParaRPr lang="hu-HU" dirty="0"/>
          </a:p>
        </p:txBody>
      </p:sp>
      <p:sp>
        <p:nvSpPr>
          <p:cNvPr id="3" name="Tartalom helye 2"/>
          <p:cNvSpPr>
            <a:spLocks noGrp="1"/>
          </p:cNvSpPr>
          <p:nvPr>
            <p:ph sz="half" idx="1"/>
          </p:nvPr>
        </p:nvSpPr>
        <p:spPr>
          <a:xfrm>
            <a:off x="262760" y="1376855"/>
            <a:ext cx="5236892" cy="4879483"/>
          </a:xfrm>
        </p:spPr>
        <p:txBody>
          <a:bodyPr>
            <a:normAutofit/>
          </a:bodyPr>
          <a:lstStyle/>
          <a:p>
            <a:r>
              <a:rPr lang="en-US" b="1" dirty="0"/>
              <a:t>Dynamic County Filter:</a:t>
            </a:r>
            <a:r>
              <a:rPr lang="en-US" dirty="0"/>
              <a:t> A built-in, real-time filtering system (Angular Pipe) that allows students to seamlessly browse instructors by region (counties) without reloading the page.</a:t>
            </a:r>
            <a:endParaRPr lang="hu-HU" dirty="0"/>
          </a:p>
          <a:p>
            <a:r>
              <a:rPr lang="en-US" b="1" dirty="0"/>
              <a:t>Detailed Instructor Profile Cards:</a:t>
            </a:r>
            <a:r>
              <a:rPr lang="en-US" dirty="0"/>
              <a:t> A responsive card layout that instantly displays the instructor's photo, contact information (email, phone), location, and personal bio.</a:t>
            </a:r>
            <a:endParaRPr lang="hu-HU" dirty="0"/>
          </a:p>
          <a:p>
            <a:r>
              <a:rPr lang="en-US" b="1" dirty="0"/>
              <a:t>Real-Time Status Tracking:</a:t>
            </a:r>
            <a:r>
              <a:rPr lang="en-US" dirty="0"/>
              <a:t> The system provides immediate feedback on the application status (e.g., "Pending"), preventing multiple or duplicate applications.</a:t>
            </a:r>
            <a:endParaRPr lang="hu-HU" dirty="0"/>
          </a:p>
        </p:txBody>
      </p:sp>
      <p:pic>
        <p:nvPicPr>
          <p:cNvPr id="5" name="Tartalom helye 4"/>
          <p:cNvPicPr>
            <a:picLocks noGrp="1" noChangeAspect="1"/>
          </p:cNvPicPr>
          <p:nvPr>
            <p:ph sz="half" idx="2"/>
          </p:nvPr>
        </p:nvPicPr>
        <p:blipFill>
          <a:blip r:embed="rId2"/>
          <a:stretch>
            <a:fillRect/>
          </a:stretch>
        </p:blipFill>
        <p:spPr>
          <a:xfrm>
            <a:off x="7630619" y="214884"/>
            <a:ext cx="4395788" cy="2816396"/>
          </a:xfrm>
          <a:prstGeom prst="rect">
            <a:avLst/>
          </a:prstGeom>
        </p:spPr>
      </p:pic>
      <p:pic>
        <p:nvPicPr>
          <p:cNvPr id="6" name="Kép 5"/>
          <p:cNvPicPr>
            <a:picLocks noChangeAspect="1"/>
          </p:cNvPicPr>
          <p:nvPr/>
        </p:nvPicPr>
        <p:blipFill>
          <a:blip r:embed="rId3"/>
          <a:stretch>
            <a:fillRect/>
          </a:stretch>
        </p:blipFill>
        <p:spPr>
          <a:xfrm>
            <a:off x="7630619" y="3410488"/>
            <a:ext cx="4324954" cy="1124107"/>
          </a:xfrm>
          <a:prstGeom prst="rect">
            <a:avLst/>
          </a:prstGeom>
        </p:spPr>
      </p:pic>
      <p:pic>
        <p:nvPicPr>
          <p:cNvPr id="7" name="Kép 6"/>
          <p:cNvPicPr>
            <a:picLocks noChangeAspect="1"/>
          </p:cNvPicPr>
          <p:nvPr/>
        </p:nvPicPr>
        <p:blipFill>
          <a:blip r:embed="rId4"/>
          <a:stretch>
            <a:fillRect/>
          </a:stretch>
        </p:blipFill>
        <p:spPr>
          <a:xfrm>
            <a:off x="5279738" y="4660772"/>
            <a:ext cx="4701761" cy="2197228"/>
          </a:xfrm>
          <a:prstGeom prst="rect">
            <a:avLst/>
          </a:prstGeom>
        </p:spPr>
      </p:pic>
    </p:spTree>
    <p:extLst>
      <p:ext uri="{BB962C8B-B14F-4D97-AF65-F5344CB8AC3E}">
        <p14:creationId xmlns:p14="http://schemas.microsoft.com/office/powerpoint/2010/main" val="3229820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a:t>Schedule </a:t>
            </a:r>
            <a:r>
              <a:rPr lang="hu-HU" dirty="0" err="1"/>
              <a:t>Page</a:t>
            </a:r>
            <a:endParaRPr lang="hu-HU" dirty="0"/>
          </a:p>
        </p:txBody>
      </p:sp>
      <p:sp>
        <p:nvSpPr>
          <p:cNvPr id="3" name="Tartalom helye 2"/>
          <p:cNvSpPr>
            <a:spLocks noGrp="1"/>
          </p:cNvSpPr>
          <p:nvPr>
            <p:ph sz="half" idx="1"/>
          </p:nvPr>
        </p:nvSpPr>
        <p:spPr>
          <a:xfrm>
            <a:off x="409904" y="1545021"/>
            <a:ext cx="5089748" cy="4711317"/>
          </a:xfrm>
        </p:spPr>
        <p:txBody>
          <a:bodyPr>
            <a:normAutofit/>
          </a:bodyPr>
          <a:lstStyle/>
          <a:p>
            <a:r>
              <a:rPr lang="en-US" b="1" dirty="0"/>
              <a:t>Built-in Request Manager:</a:t>
            </a:r>
            <a:r>
              <a:rPr lang="en-US" dirty="0"/>
              <a:t> Instructors can review, approve, or reject student connection requests on a dedicated, slider-based interface.</a:t>
            </a:r>
            <a:endParaRPr lang="hu-HU" dirty="0"/>
          </a:p>
          <a:p>
            <a:r>
              <a:rPr lang="en-US" b="1" dirty="0"/>
              <a:t>Dynamic Calendar View:</a:t>
            </a:r>
            <a:r>
              <a:rPr lang="en-US" dirty="0"/>
              <a:t> An interactive, cell-based schedule where instructors can assign driving lessons or exam slots to students with a single click (using pop-up Modals).</a:t>
            </a:r>
            <a:endParaRPr lang="hu-HU" dirty="0"/>
          </a:p>
          <a:p>
            <a:r>
              <a:rPr lang="en-US" b="1" dirty="0"/>
              <a:t>Role-Specific UI:</a:t>
            </a:r>
            <a:r>
              <a:rPr lang="en-US" dirty="0"/>
              <a:t> The same component intelligently adapts to the user: students see only their own schedule, while instructors can manage their full capacity and student assignments.</a:t>
            </a:r>
            <a:endParaRPr lang="hu-HU" dirty="0"/>
          </a:p>
        </p:txBody>
      </p:sp>
      <p:sp>
        <p:nvSpPr>
          <p:cNvPr id="4" name="Tartalom helye 3"/>
          <p:cNvSpPr>
            <a:spLocks noGrp="1"/>
          </p:cNvSpPr>
          <p:nvPr>
            <p:ph sz="half" idx="2"/>
          </p:nvPr>
        </p:nvSpPr>
        <p:spPr/>
        <p:txBody>
          <a:bodyPr>
            <a:normAutofit/>
          </a:bodyPr>
          <a:lstStyle/>
          <a:p>
            <a:endParaRPr lang="hu-HU" dirty="0"/>
          </a:p>
        </p:txBody>
      </p:sp>
      <p:pic>
        <p:nvPicPr>
          <p:cNvPr id="6" name="Kép 5"/>
          <p:cNvPicPr>
            <a:picLocks noChangeAspect="1"/>
          </p:cNvPicPr>
          <p:nvPr/>
        </p:nvPicPr>
        <p:blipFill>
          <a:blip r:embed="rId2"/>
          <a:stretch>
            <a:fillRect/>
          </a:stretch>
        </p:blipFill>
        <p:spPr>
          <a:xfrm>
            <a:off x="5348472" y="315094"/>
            <a:ext cx="6766224" cy="1353385"/>
          </a:xfrm>
          <a:prstGeom prst="rect">
            <a:avLst/>
          </a:prstGeom>
        </p:spPr>
      </p:pic>
      <p:pic>
        <p:nvPicPr>
          <p:cNvPr id="7" name="Kép 6"/>
          <p:cNvPicPr>
            <a:picLocks noChangeAspect="1"/>
          </p:cNvPicPr>
          <p:nvPr/>
        </p:nvPicPr>
        <p:blipFill>
          <a:blip r:embed="rId3"/>
          <a:stretch>
            <a:fillRect/>
          </a:stretch>
        </p:blipFill>
        <p:spPr>
          <a:xfrm>
            <a:off x="5814545" y="1871323"/>
            <a:ext cx="2667303" cy="2652886"/>
          </a:xfrm>
          <a:prstGeom prst="rect">
            <a:avLst/>
          </a:prstGeom>
        </p:spPr>
      </p:pic>
      <p:pic>
        <p:nvPicPr>
          <p:cNvPr id="8" name="Kép 7"/>
          <p:cNvPicPr>
            <a:picLocks noChangeAspect="1"/>
          </p:cNvPicPr>
          <p:nvPr/>
        </p:nvPicPr>
        <p:blipFill>
          <a:blip r:embed="rId4"/>
          <a:stretch>
            <a:fillRect/>
          </a:stretch>
        </p:blipFill>
        <p:spPr>
          <a:xfrm>
            <a:off x="8910084" y="3613022"/>
            <a:ext cx="2735377" cy="2980232"/>
          </a:xfrm>
          <a:prstGeom prst="rect">
            <a:avLst/>
          </a:prstGeom>
        </p:spPr>
      </p:pic>
    </p:spTree>
    <p:extLst>
      <p:ext uri="{BB962C8B-B14F-4D97-AF65-F5344CB8AC3E}">
        <p14:creationId xmlns:p14="http://schemas.microsoft.com/office/powerpoint/2010/main" val="101701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a:t>Schedule </a:t>
            </a:r>
            <a:r>
              <a:rPr lang="hu-HU" dirty="0" err="1"/>
              <a:t>Page</a:t>
            </a:r>
            <a:endParaRPr lang="hu-HU" dirty="0"/>
          </a:p>
        </p:txBody>
      </p:sp>
      <p:sp>
        <p:nvSpPr>
          <p:cNvPr id="3" name="Tartalom helye 2"/>
          <p:cNvSpPr>
            <a:spLocks noGrp="1"/>
          </p:cNvSpPr>
          <p:nvPr>
            <p:ph sz="half" idx="1"/>
          </p:nvPr>
        </p:nvSpPr>
        <p:spPr/>
        <p:txBody>
          <a:bodyPr/>
          <a:lstStyle/>
          <a:p>
            <a:r>
              <a:rPr lang="en-US" b="1" dirty="0"/>
              <a:t>Smart Exam Logic &amp; Extra Lessons:</a:t>
            </a:r>
            <a:r>
              <a:rPr lang="en-US" dirty="0"/>
              <a:t> The system automatically checks exam eligibility (e.g., required hours completed). If a failed exam is recorded, the interface immediately offers the option to purchase extra (remedial) lessons.</a:t>
            </a:r>
            <a:endParaRPr lang="hu-HU" dirty="0"/>
          </a:p>
          <a:p>
            <a:r>
              <a:rPr lang="en-US" b="1" dirty="0"/>
              <a:t>Color-Coded Status Tracking:</a:t>
            </a:r>
            <a:r>
              <a:rPr lang="en-US" dirty="0"/>
              <a:t> Visual feedback in the calendar provides an easy overview (e.g., green for a passed exam, orange for upcoming, red for failed/rejected).</a:t>
            </a:r>
            <a:endParaRPr lang="hu-HU" dirty="0"/>
          </a:p>
        </p:txBody>
      </p:sp>
      <p:sp>
        <p:nvSpPr>
          <p:cNvPr id="4" name="Tartalom helye 3"/>
          <p:cNvSpPr>
            <a:spLocks noGrp="1"/>
          </p:cNvSpPr>
          <p:nvPr>
            <p:ph sz="half" idx="2"/>
          </p:nvPr>
        </p:nvSpPr>
        <p:spPr/>
        <p:txBody>
          <a:bodyPr/>
          <a:lstStyle/>
          <a:p>
            <a:endParaRPr lang="hu-HU" dirty="0"/>
          </a:p>
        </p:txBody>
      </p:sp>
      <p:pic>
        <p:nvPicPr>
          <p:cNvPr id="5" name="Kép 4"/>
          <p:cNvPicPr>
            <a:picLocks noChangeAspect="1"/>
          </p:cNvPicPr>
          <p:nvPr/>
        </p:nvPicPr>
        <p:blipFill>
          <a:blip r:embed="rId2"/>
          <a:stretch>
            <a:fillRect/>
          </a:stretch>
        </p:blipFill>
        <p:spPr>
          <a:xfrm>
            <a:off x="10280173" y="130623"/>
            <a:ext cx="1682487" cy="3445250"/>
          </a:xfrm>
          <a:prstGeom prst="rect">
            <a:avLst/>
          </a:prstGeom>
        </p:spPr>
      </p:pic>
      <p:pic>
        <p:nvPicPr>
          <p:cNvPr id="6" name="Kép 5"/>
          <p:cNvPicPr>
            <a:picLocks noChangeAspect="1"/>
          </p:cNvPicPr>
          <p:nvPr/>
        </p:nvPicPr>
        <p:blipFill>
          <a:blip r:embed="rId3"/>
          <a:stretch>
            <a:fillRect/>
          </a:stretch>
        </p:blipFill>
        <p:spPr>
          <a:xfrm>
            <a:off x="5969804" y="208899"/>
            <a:ext cx="3428947" cy="3694386"/>
          </a:xfrm>
          <a:prstGeom prst="rect">
            <a:avLst/>
          </a:prstGeom>
        </p:spPr>
      </p:pic>
      <p:pic>
        <p:nvPicPr>
          <p:cNvPr id="7" name="Kép 6"/>
          <p:cNvPicPr>
            <a:picLocks noChangeAspect="1"/>
          </p:cNvPicPr>
          <p:nvPr/>
        </p:nvPicPr>
        <p:blipFill>
          <a:blip r:embed="rId4"/>
          <a:stretch>
            <a:fillRect/>
          </a:stretch>
        </p:blipFill>
        <p:spPr>
          <a:xfrm>
            <a:off x="9141984" y="3575873"/>
            <a:ext cx="3050016" cy="3249013"/>
          </a:xfrm>
          <a:prstGeom prst="rect">
            <a:avLst/>
          </a:prstGeom>
        </p:spPr>
      </p:pic>
    </p:spTree>
    <p:extLst>
      <p:ext uri="{BB962C8B-B14F-4D97-AF65-F5344CB8AC3E}">
        <p14:creationId xmlns:p14="http://schemas.microsoft.com/office/powerpoint/2010/main" val="534653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32398" y="-83132"/>
            <a:ext cx="9926143" cy="1404361"/>
          </a:xfrm>
        </p:spPr>
        <p:txBody>
          <a:bodyPr/>
          <a:lstStyle/>
          <a:p>
            <a:r>
              <a:rPr lang="hu-HU" dirty="0" err="1"/>
              <a:t>Navbar</a:t>
            </a:r>
            <a:r>
              <a:rPr lang="hu-HU" dirty="0"/>
              <a:t> and </a:t>
            </a:r>
            <a:r>
              <a:rPr lang="hu-HU" dirty="0" err="1"/>
              <a:t>footer</a:t>
            </a:r>
            <a:endParaRPr lang="hu-HU" dirty="0"/>
          </a:p>
        </p:txBody>
      </p:sp>
      <p:sp>
        <p:nvSpPr>
          <p:cNvPr id="3" name="Szöveg helye 2"/>
          <p:cNvSpPr>
            <a:spLocks noGrp="1"/>
          </p:cNvSpPr>
          <p:nvPr>
            <p:ph type="body" idx="1"/>
          </p:nvPr>
        </p:nvSpPr>
        <p:spPr/>
        <p:txBody>
          <a:bodyPr/>
          <a:lstStyle/>
          <a:p>
            <a:r>
              <a:rPr lang="hu-HU" dirty="0"/>
              <a:t> </a:t>
            </a:r>
          </a:p>
        </p:txBody>
      </p:sp>
      <p:sp>
        <p:nvSpPr>
          <p:cNvPr id="5" name="Szöveg helye 4"/>
          <p:cNvSpPr>
            <a:spLocks noGrp="1"/>
          </p:cNvSpPr>
          <p:nvPr>
            <p:ph type="body" sz="quarter" idx="3"/>
          </p:nvPr>
        </p:nvSpPr>
        <p:spPr/>
        <p:txBody>
          <a:bodyPr/>
          <a:lstStyle/>
          <a:p>
            <a:r>
              <a:rPr lang="hu-HU" dirty="0"/>
              <a:t> </a:t>
            </a:r>
          </a:p>
        </p:txBody>
      </p:sp>
      <p:sp>
        <p:nvSpPr>
          <p:cNvPr id="7" name="Rectangle 1"/>
          <p:cNvSpPr>
            <a:spLocks noGrp="1" noChangeArrowheads="1"/>
          </p:cNvSpPr>
          <p:nvPr>
            <p:ph sz="half" idx="2"/>
          </p:nvPr>
        </p:nvSpPr>
        <p:spPr bwMode="auto">
          <a:xfrm>
            <a:off x="-231904" y="893246"/>
            <a:ext cx="4056611" cy="4498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b="1" dirty="0"/>
          </a:p>
          <a:p>
            <a:r>
              <a:rPr lang="en-US" sz="1400" dirty="0"/>
              <a:t>The </a:t>
            </a:r>
            <a:r>
              <a:rPr lang="en-US" sz="1400" dirty="0" err="1"/>
              <a:t>DrivePro</a:t>
            </a:r>
            <a:r>
              <a:rPr lang="en-US" sz="1400" dirty="0"/>
              <a:t> website features a consistent dark green theme across its header and footer. The header includes a minimalist logo with a car silhouette and a navigation menu with "FŐOLDAL" (Home), "BEJELENTKEZÉS" (Login), and "REGISZTRÁCIÓ" (</a:t>
            </a:r>
            <a:r>
              <a:rPr lang="en-US" sz="1400" dirty="0" err="1"/>
              <a:t>Registrcolumns</a:t>
            </a:r>
            <a:r>
              <a:rPr lang="en-US" sz="1400" dirty="0"/>
              <a:t>: a brand mission statement, a "</a:t>
            </a:r>
            <a:r>
              <a:rPr lang="en-US" sz="1400" dirty="0" err="1"/>
              <a:t>Gyorslinkekation</a:t>
            </a:r>
            <a:r>
              <a:rPr lang="en-US" sz="1400" dirty="0"/>
              <a:t>). The footer is organized into three " (Quick Links) section for the home page, schedule, and shop, and a "</a:t>
            </a:r>
            <a:r>
              <a:rPr lang="en-US" sz="1400" dirty="0" err="1"/>
              <a:t>Kapcsolat</a:t>
            </a:r>
            <a:r>
              <a:rPr lang="en-US" sz="1400" dirty="0"/>
              <a:t>" (Contact) section providing an address in </a:t>
            </a:r>
            <a:r>
              <a:rPr lang="en-US" sz="1400" dirty="0" err="1"/>
              <a:t>Sárospatak</a:t>
            </a:r>
            <a:r>
              <a:rPr lang="en-US" sz="1400" dirty="0"/>
              <a:t>, a phone number, and an email. The bottom of the page displays a 2026 copyright notice for the </a:t>
            </a:r>
            <a:r>
              <a:rPr lang="en-US" sz="1400" dirty="0" err="1"/>
              <a:t>DrivePro</a:t>
            </a:r>
            <a:r>
              <a:rPr lang="en-US" sz="1400" dirty="0"/>
              <a:t> License Management System.</a:t>
            </a:r>
          </a:p>
          <a:p>
            <a:pPr marL="0" marR="0" lvl="0" indent="0" algn="l" defTabSz="914400" rtl="0" eaLnBrk="0" fontAlgn="base" latinLnBrk="0" hangingPunct="0">
              <a:lnSpc>
                <a:spcPct val="100000"/>
              </a:lnSpc>
              <a:spcBef>
                <a:spcPct val="0"/>
              </a:spcBef>
              <a:spcAft>
                <a:spcPct val="0"/>
              </a:spcAft>
              <a:buClrTx/>
              <a:buSzTx/>
              <a:buFontTx/>
              <a:buNone/>
              <a:tabLst/>
            </a:pPr>
            <a:br>
              <a:rPr kumimoji="0" lang="hu-HU" altLang="hu-HU" sz="1800" b="0" i="0" u="none" strike="noStrike" cap="none" normalizeH="0" baseline="0" dirty="0">
                <a:ln>
                  <a:noFill/>
                </a:ln>
                <a:solidFill>
                  <a:schemeClr val="tx1"/>
                </a:solidFill>
                <a:effectLst/>
                <a:latin typeface="Arial" panose="020B0604020202020204" pitchFamily="34" charset="0"/>
              </a:rPr>
            </a:br>
            <a:endParaRPr kumimoji="0" lang="hu-HU" altLang="hu-HU" sz="1800" b="0" i="0" u="none" strike="noStrike" cap="none" normalizeH="0" baseline="0" dirty="0">
              <a:ln>
                <a:noFill/>
              </a:ln>
              <a:solidFill>
                <a:schemeClr val="tx1"/>
              </a:solidFill>
              <a:effectLst/>
              <a:latin typeface="Arial" panose="020B0604020202020204" pitchFamily="34" charset="0"/>
            </a:endParaRPr>
          </a:p>
        </p:txBody>
      </p:sp>
      <p:pic>
        <p:nvPicPr>
          <p:cNvPr id="6" name="Tartalom helye 5"/>
          <p:cNvPicPr>
            <a:picLocks noGrp="1" noChangeAspect="1"/>
          </p:cNvPicPr>
          <p:nvPr>
            <p:ph sz="quarter" idx="4"/>
          </p:nvPr>
        </p:nvPicPr>
        <p:blipFill>
          <a:blip r:embed="rId2" cstate="print">
            <a:extLst>
              <a:ext uri="{28A0092B-C50C-407E-A947-70E740481C1C}">
                <a14:useLocalDpi xmlns:a14="http://schemas.microsoft.com/office/drawing/2010/main" val="0"/>
              </a:ext>
            </a:extLst>
          </a:blip>
          <a:stretch>
            <a:fillRect/>
          </a:stretch>
        </p:blipFill>
        <p:spPr>
          <a:xfrm>
            <a:off x="4212307" y="702873"/>
            <a:ext cx="7838377" cy="693605"/>
          </a:xfrm>
        </p:spPr>
      </p:pic>
      <p:pic>
        <p:nvPicPr>
          <p:cNvPr id="9" name="Kép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8371" y="4628505"/>
            <a:ext cx="9152313" cy="2197172"/>
          </a:xfrm>
          <a:prstGeom prst="rect">
            <a:avLst/>
          </a:prstGeom>
        </p:spPr>
      </p:pic>
      <p:pic>
        <p:nvPicPr>
          <p:cNvPr id="10" name="Kép 9"/>
          <p:cNvPicPr>
            <a:picLocks noChangeAspect="1"/>
          </p:cNvPicPr>
          <p:nvPr/>
        </p:nvPicPr>
        <p:blipFill>
          <a:blip r:embed="rId4"/>
          <a:stretch>
            <a:fillRect/>
          </a:stretch>
        </p:blipFill>
        <p:spPr>
          <a:xfrm>
            <a:off x="5418510" y="1506992"/>
            <a:ext cx="4475235" cy="3121513"/>
          </a:xfrm>
          <a:prstGeom prst="rect">
            <a:avLst/>
          </a:prstGeom>
        </p:spPr>
      </p:pic>
    </p:spTree>
    <p:extLst>
      <p:ext uri="{BB962C8B-B14F-4D97-AF65-F5344CB8AC3E}">
        <p14:creationId xmlns:p14="http://schemas.microsoft.com/office/powerpoint/2010/main" val="311759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13849" y="170086"/>
            <a:ext cx="9404723" cy="1400530"/>
          </a:xfrm>
        </p:spPr>
        <p:txBody>
          <a:bodyPr/>
          <a:lstStyle/>
          <a:p>
            <a:r>
              <a:rPr lang="hu-HU" dirty="0" err="1"/>
              <a:t>Mainpage</a:t>
            </a:r>
            <a:r>
              <a:rPr lang="hu-HU" dirty="0"/>
              <a:t> </a:t>
            </a:r>
            <a:r>
              <a:rPr lang="hu-HU" dirty="0" err="1"/>
              <a:t>Welcome</a:t>
            </a:r>
            <a:br>
              <a:rPr lang="hu-HU" dirty="0"/>
            </a:br>
            <a:r>
              <a:rPr lang="hu-HU" dirty="0"/>
              <a:t>and </a:t>
            </a:r>
            <a:r>
              <a:rPr lang="hu-HU" dirty="0" err="1"/>
              <a:t>introduction</a:t>
            </a:r>
            <a:endParaRPr lang="hu-HU" dirty="0"/>
          </a:p>
        </p:txBody>
      </p:sp>
      <p:sp>
        <p:nvSpPr>
          <p:cNvPr id="5" name="Rectangle 1"/>
          <p:cNvSpPr>
            <a:spLocks noGrp="1" noChangeArrowheads="1"/>
          </p:cNvSpPr>
          <p:nvPr>
            <p:ph sz="half" idx="1"/>
          </p:nvPr>
        </p:nvSpPr>
        <p:spPr bwMode="auto">
          <a:xfrm>
            <a:off x="646111" y="2087138"/>
            <a:ext cx="485633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None/>
            </a:pPr>
            <a:r>
              <a:rPr lang="en-US" dirty="0"/>
              <a:t>The </a:t>
            </a:r>
            <a:r>
              <a:rPr lang="en-US" dirty="0" err="1"/>
              <a:t>DrivePro</a:t>
            </a:r>
            <a:r>
              <a:rPr lang="en-US" dirty="0"/>
              <a:t> Driving School homepage features a modern hero section with a driving-themed background, professional headlines, and an Angular-powered "Apply now!" button for seamless navigation. Below, the "About Us" section emphasizes stress-free learning, supported by a grid-based statistics block showcasing 15+ instructors, a 98% pass rate, and over 2,000 licenses issued. The site’s semantic HTML structure ensures a clean, professional, and transparent user experience.</a:t>
            </a:r>
            <a:br>
              <a:rPr kumimoji="0" lang="hu-HU" altLang="hu-HU" sz="1800" b="0" i="0" u="none" strike="noStrike" cap="none" normalizeH="0" baseline="0" dirty="0">
                <a:ln>
                  <a:noFill/>
                </a:ln>
                <a:solidFill>
                  <a:schemeClr val="tx1"/>
                </a:solidFill>
                <a:effectLst/>
                <a:latin typeface="Arial" panose="020B0604020202020204" pitchFamily="34" charset="0"/>
              </a:rPr>
            </a:br>
            <a:endParaRPr kumimoji="0" lang="hu-HU" altLang="hu-HU" sz="1800" b="0" i="0" u="none" strike="noStrike" cap="none" normalizeH="0" baseline="0" dirty="0">
              <a:ln>
                <a:noFill/>
              </a:ln>
              <a:solidFill>
                <a:schemeClr val="tx1"/>
              </a:solidFill>
              <a:effectLst/>
              <a:latin typeface="Arial" panose="020B0604020202020204" pitchFamily="34" charset="0"/>
            </a:endParaRPr>
          </a:p>
        </p:txBody>
      </p:sp>
      <p:pic>
        <p:nvPicPr>
          <p:cNvPr id="4" name="Tartalom helye 3"/>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926975" y="170086"/>
            <a:ext cx="5478088" cy="2663054"/>
          </a:xfrm>
        </p:spPr>
      </p:pic>
      <p:pic>
        <p:nvPicPr>
          <p:cNvPr id="7" name="Kép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26975" y="2626687"/>
            <a:ext cx="5478088" cy="1605023"/>
          </a:xfrm>
          <a:prstGeom prst="rect">
            <a:avLst/>
          </a:prstGeom>
        </p:spPr>
      </p:pic>
      <p:pic>
        <p:nvPicPr>
          <p:cNvPr id="8" name="Kép 7"/>
          <p:cNvPicPr>
            <a:picLocks noChangeAspect="1"/>
          </p:cNvPicPr>
          <p:nvPr/>
        </p:nvPicPr>
        <p:blipFill>
          <a:blip r:embed="rId4"/>
          <a:stretch>
            <a:fillRect/>
          </a:stretch>
        </p:blipFill>
        <p:spPr>
          <a:xfrm>
            <a:off x="6607354" y="4326657"/>
            <a:ext cx="4738839" cy="2503648"/>
          </a:xfrm>
          <a:prstGeom prst="rect">
            <a:avLst/>
          </a:prstGeom>
        </p:spPr>
      </p:pic>
    </p:spTree>
    <p:extLst>
      <p:ext uri="{BB962C8B-B14F-4D97-AF65-F5344CB8AC3E}">
        <p14:creationId xmlns:p14="http://schemas.microsoft.com/office/powerpoint/2010/main" val="3681264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a:t>Cart</a:t>
            </a:r>
            <a:endParaRPr lang="hu-HU" dirty="0"/>
          </a:p>
        </p:txBody>
      </p:sp>
      <p:sp>
        <p:nvSpPr>
          <p:cNvPr id="3" name="Tartalom helye 2"/>
          <p:cNvSpPr>
            <a:spLocks noGrp="1"/>
          </p:cNvSpPr>
          <p:nvPr>
            <p:ph sz="half" idx="1"/>
          </p:nvPr>
        </p:nvSpPr>
        <p:spPr>
          <a:xfrm>
            <a:off x="340823" y="1371600"/>
            <a:ext cx="3999623" cy="4869307"/>
          </a:xfrm>
        </p:spPr>
        <p:txBody>
          <a:bodyPr>
            <a:normAutofit fontScale="92500" lnSpcReduction="20000"/>
          </a:bodyPr>
          <a:lstStyle/>
          <a:p>
            <a:r>
              <a:rPr lang="en-US" dirty="0"/>
              <a:t>The images and code show the </a:t>
            </a:r>
            <a:r>
              <a:rPr lang="en-US" dirty="0" err="1"/>
              <a:t>DrivePro</a:t>
            </a:r>
            <a:r>
              <a:rPr lang="hu-HU" dirty="0"/>
              <a:t> </a:t>
            </a:r>
            <a:r>
              <a:rPr lang="en-US" dirty="0"/>
              <a:t>„Driving Store" page, where</a:t>
            </a:r>
            <a:r>
              <a:rPr lang="hu-HU" dirty="0"/>
              <a:t> </a:t>
            </a:r>
            <a:r>
              <a:rPr lang="en-US" dirty="0"/>
              <a:t>students can purchase additional services. Two products are available: extra</a:t>
            </a:r>
            <a:r>
              <a:rPr lang="hu-HU" dirty="0"/>
              <a:t> </a:t>
            </a:r>
            <a:r>
              <a:rPr lang="en-US" dirty="0"/>
              <a:t>driving lessons (8,000 HUF) and a retake exam(15,000 HUF).The system takes into account the</a:t>
            </a:r>
            <a:r>
              <a:rPr lang="hu-HU" dirty="0"/>
              <a:t> </a:t>
            </a:r>
            <a:r>
              <a:rPr lang="en-US" dirty="0"/>
              <a:t>role of the user. Instructors can</a:t>
            </a:r>
            <a:r>
              <a:rPr lang="hu-HU" dirty="0"/>
              <a:t> </a:t>
            </a:r>
            <a:r>
              <a:rPr lang="en-US" dirty="0"/>
              <a:t>not</a:t>
            </a:r>
            <a:r>
              <a:rPr lang="hu-HU" dirty="0"/>
              <a:t> </a:t>
            </a:r>
            <a:r>
              <a:rPr lang="en-US" dirty="0"/>
              <a:t>make purchases; the buttons are disabled</a:t>
            </a:r>
            <a:r>
              <a:rPr lang="hu-HU" dirty="0"/>
              <a:t> </a:t>
            </a:r>
            <a:r>
              <a:rPr lang="en-US" dirty="0"/>
              <a:t>for them. The retake exam is only</a:t>
            </a:r>
            <a:r>
              <a:rPr lang="hu-HU" dirty="0"/>
              <a:t> </a:t>
            </a:r>
            <a:r>
              <a:rPr lang="en-US" dirty="0"/>
              <a:t>available if the student failed the</a:t>
            </a:r>
            <a:r>
              <a:rPr lang="hu-HU" dirty="0"/>
              <a:t> </a:t>
            </a:r>
            <a:r>
              <a:rPr lang="en-US" dirty="0"/>
              <a:t>previous exam.</a:t>
            </a:r>
            <a:r>
              <a:rPr lang="hu-HU" dirty="0"/>
              <a:t> </a:t>
            </a:r>
            <a:r>
              <a:rPr lang="en-US" dirty="0"/>
              <a:t>At the bottom is the basket, where the</a:t>
            </a:r>
            <a:r>
              <a:rPr lang="hu-HU" dirty="0"/>
              <a:t> </a:t>
            </a:r>
            <a:r>
              <a:rPr lang="en-US" dirty="0"/>
              <a:t>selected items are listed</a:t>
            </a:r>
            <a:r>
              <a:rPr lang="hu-HU" dirty="0"/>
              <a:t> </a:t>
            </a:r>
            <a:r>
              <a:rPr lang="en-US" dirty="0"/>
              <a:t>and can be deleted, and the total amount to be paid</a:t>
            </a:r>
            <a:r>
              <a:rPr lang="hu-HU" dirty="0"/>
              <a:t> </a:t>
            </a:r>
            <a:r>
              <a:rPr lang="en-US" dirty="0"/>
              <a:t>is automatically calculated. If the basket is empty, this is indicated by a separate</a:t>
            </a:r>
            <a:r>
              <a:rPr lang="hu-HU" dirty="0"/>
              <a:t> </a:t>
            </a:r>
            <a:r>
              <a:rPr lang="en-US" dirty="0"/>
              <a:t>message.</a:t>
            </a:r>
            <a:endParaRPr lang="hu-HU" dirty="0"/>
          </a:p>
        </p:txBody>
      </p:sp>
      <p:pic>
        <p:nvPicPr>
          <p:cNvPr id="6" name="Tartalom helye 5"/>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570148" y="2472966"/>
            <a:ext cx="5547465" cy="2136843"/>
          </a:xfrm>
        </p:spPr>
      </p:pic>
      <p:pic>
        <p:nvPicPr>
          <p:cNvPr id="7" name="Kép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0148" y="110333"/>
            <a:ext cx="5785974" cy="2301240"/>
          </a:xfrm>
          <a:prstGeom prst="rect">
            <a:avLst/>
          </a:prstGeom>
        </p:spPr>
      </p:pic>
      <p:pic>
        <p:nvPicPr>
          <p:cNvPr id="8" name="Kép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0148" y="4671202"/>
            <a:ext cx="4871233" cy="2162263"/>
          </a:xfrm>
          <a:prstGeom prst="rect">
            <a:avLst/>
          </a:prstGeom>
        </p:spPr>
      </p:pic>
    </p:spTree>
    <p:extLst>
      <p:ext uri="{BB962C8B-B14F-4D97-AF65-F5344CB8AC3E}">
        <p14:creationId xmlns:p14="http://schemas.microsoft.com/office/powerpoint/2010/main" val="997932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a:t>Student</a:t>
            </a:r>
            <a:r>
              <a:rPr lang="hu-HU" dirty="0"/>
              <a:t> and </a:t>
            </a:r>
            <a:r>
              <a:rPr lang="hu-HU" dirty="0" err="1"/>
              <a:t>teacher</a:t>
            </a:r>
            <a:r>
              <a:rPr lang="hu-HU" dirty="0"/>
              <a:t> </a:t>
            </a:r>
            <a:r>
              <a:rPr lang="hu-HU" dirty="0" err="1"/>
              <a:t>profile</a:t>
            </a:r>
            <a:endParaRPr lang="hu-HU" dirty="0"/>
          </a:p>
        </p:txBody>
      </p:sp>
      <p:sp>
        <p:nvSpPr>
          <p:cNvPr id="3" name="Tartalom helye 2"/>
          <p:cNvSpPr>
            <a:spLocks noGrp="1"/>
          </p:cNvSpPr>
          <p:nvPr>
            <p:ph sz="half" idx="1"/>
          </p:nvPr>
        </p:nvSpPr>
        <p:spPr>
          <a:xfrm>
            <a:off x="174567" y="1853249"/>
            <a:ext cx="4172989" cy="4539238"/>
          </a:xfrm>
        </p:spPr>
        <p:txBody>
          <a:bodyPr>
            <a:normAutofit fontScale="92500" lnSpcReduction="10000"/>
          </a:bodyPr>
          <a:lstStyle/>
          <a:p>
            <a:r>
              <a:rPr lang="en-US" dirty="0"/>
              <a:t>The </a:t>
            </a:r>
            <a:r>
              <a:rPr lang="en-US" dirty="0" err="1"/>
              <a:t>DrivePro</a:t>
            </a:r>
            <a:r>
              <a:rPr lang="en-US" dirty="0"/>
              <a:t> profile interface provides a clean, card-based layout for both students and teachers, clearly separating view and edit modes. The upper section displays the user's name, registration date, and an edit button, while the main body contains essential contact information like email and phone number. In edit mode, users can update their details and change their password by entering both old and new credentials. The teacher-specific view offers additional functionality, such as uploading a profile picture and selecting their location from a county dropdown list.</a:t>
            </a:r>
            <a:endParaRPr lang="hu-HU" dirty="0"/>
          </a:p>
        </p:txBody>
      </p:sp>
      <p:pic>
        <p:nvPicPr>
          <p:cNvPr id="6" name="Tartalom helye 5"/>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496861" y="1152983"/>
            <a:ext cx="7190834" cy="2571117"/>
          </a:xfrm>
        </p:spPr>
      </p:pic>
      <p:pic>
        <p:nvPicPr>
          <p:cNvPr id="7" name="Kép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6861" y="3724100"/>
            <a:ext cx="7190834" cy="3042459"/>
          </a:xfrm>
          <a:prstGeom prst="rect">
            <a:avLst/>
          </a:prstGeom>
        </p:spPr>
      </p:pic>
    </p:spTree>
    <p:extLst>
      <p:ext uri="{BB962C8B-B14F-4D97-AF65-F5344CB8AC3E}">
        <p14:creationId xmlns:p14="http://schemas.microsoft.com/office/powerpoint/2010/main" val="1265931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p:txBody>
          <a:bodyPr/>
          <a:lstStyle/>
          <a:p>
            <a:r>
              <a:rPr lang="hu-HU" dirty="0" err="1"/>
              <a:t>Thanks</a:t>
            </a:r>
            <a:r>
              <a:rPr lang="hu-HU" dirty="0"/>
              <a:t> </a:t>
            </a:r>
            <a:r>
              <a:rPr lang="hu-HU" dirty="0" err="1"/>
              <a:t>for</a:t>
            </a:r>
            <a:r>
              <a:rPr lang="hu-HU" dirty="0"/>
              <a:t> </a:t>
            </a:r>
            <a:r>
              <a:rPr lang="hu-HU" dirty="0" err="1"/>
              <a:t>your</a:t>
            </a:r>
            <a:r>
              <a:rPr lang="hu-HU" dirty="0"/>
              <a:t> </a:t>
            </a:r>
            <a:r>
              <a:rPr lang="hu-HU" dirty="0" err="1"/>
              <a:t>attention</a:t>
            </a:r>
            <a:endParaRPr lang="hu-HU" dirty="0"/>
          </a:p>
        </p:txBody>
      </p:sp>
      <p:sp>
        <p:nvSpPr>
          <p:cNvPr id="3" name="Alcím 2"/>
          <p:cNvSpPr>
            <a:spLocks noGrp="1"/>
          </p:cNvSpPr>
          <p:nvPr>
            <p:ph type="subTitle" idx="1"/>
          </p:nvPr>
        </p:nvSpPr>
        <p:spPr/>
        <p:txBody>
          <a:bodyPr/>
          <a:lstStyle/>
          <a:p>
            <a:endParaRPr lang="hu-HU"/>
          </a:p>
        </p:txBody>
      </p:sp>
    </p:spTree>
    <p:extLst>
      <p:ext uri="{BB962C8B-B14F-4D97-AF65-F5344CB8AC3E}">
        <p14:creationId xmlns:p14="http://schemas.microsoft.com/office/powerpoint/2010/main" val="9002064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62</TotalTime>
  <Words>1179</Words>
  <Application>Microsoft Office PowerPoint</Application>
  <PresentationFormat>Szélesvásznú</PresentationFormat>
  <Paragraphs>58</Paragraphs>
  <Slides>15</Slides>
  <Notes>0</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15</vt:i4>
      </vt:variant>
    </vt:vector>
  </HeadingPairs>
  <TitlesOfParts>
    <vt:vector size="19" baseType="lpstr">
      <vt:lpstr>Arial</vt:lpstr>
      <vt:lpstr>Century Gothic</vt:lpstr>
      <vt:lpstr>Wingdings 3</vt:lpstr>
      <vt:lpstr>Ion</vt:lpstr>
      <vt:lpstr>DrivePro</vt:lpstr>
      <vt:lpstr>Members and Tasks</vt:lpstr>
      <vt:lpstr>Backend login/registration</vt:lpstr>
      <vt:lpstr>Backend multer</vt:lpstr>
      <vt:lpstr>Student application</vt:lpstr>
      <vt:lpstr>Purchase</vt:lpstr>
      <vt:lpstr>Login/Registration Page</vt:lpstr>
      <vt:lpstr>Teachers Page</vt:lpstr>
      <vt:lpstr>Schedule Page</vt:lpstr>
      <vt:lpstr>Schedule Page</vt:lpstr>
      <vt:lpstr>Navbar and footer</vt:lpstr>
      <vt:lpstr>Mainpage Welcome and introduction</vt:lpstr>
      <vt:lpstr>Cart</vt:lpstr>
      <vt:lpstr>Student and teacher profile</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DrivePro</dc:title>
  <dc:creator>Hegedüs Ákos</dc:creator>
  <cp:lastModifiedBy>Ákos Hegedüs</cp:lastModifiedBy>
  <cp:revision>84</cp:revision>
  <dcterms:created xsi:type="dcterms:W3CDTF">2025-11-12T12:26:04Z</dcterms:created>
  <dcterms:modified xsi:type="dcterms:W3CDTF">2026-03-13T08:48:13Z</dcterms:modified>
</cp:coreProperties>
</file>